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5e6095f7-b1e5-b5ae-0333-a89a7d6ac41b}">
          <p14:sldIdLst>
            <p14:sldId id="256"/>
            <p14:sldId id="257"/>
            <p14:sldId id="258"/>
          </p14:sldIdLst>
        </p14:section>
        <p14:section name="The solution" id="{7ff7df1e-ca80-8fe1-9157-dad53894a794}">
          <p14:sldIdLst>
            <p14:sldId id="259"/>
            <p14:sldId id="260"/>
          </p14:sldIdLst>
        </p14:section>
        <p14:section name="Proof and readiness" id="{929758ce-927a-b839-49c7-f3c0b028e5f7}">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61A"/>
                </a:solidFill>
                <a:latin typeface="+mj-lt"/>
              </a:defRPr>
            </a:pPr>
            <a:r>
              <a:rPr sz="1400" b="0" i="0" u="none" strike="noStrike">
                <a:solidFill>
                  <a:srgbClr val="14161A"/>
                </a:solidFill>
                <a:latin typeface="+mj-lt"/>
              </a:rPr>
              <a:t>An edited date of birth on a real card: % caught</a:t>
            </a:r>
          </a:p>
        </c:rich>
      </c:tx>
      <c:layout/>
      <c:overlay val="0"/>
    </c:title>
    <c:autoTitleDeleted val="0"/>
    <c:plotArea>
      <c:layout/>
      <c:barChart>
        <c:barDir val="bar"/>
        <c:grouping val="clustered"/>
        <c:varyColors val="0"/>
        <c:ser>
          <c:idx val="0"/>
          <c:order val="0"/>
          <c:tx>
            <c:strRef>
              <c:f>Sheet1!$B$1</c:f>
              <c:strCache>
                <c:ptCount val="1"/>
                <c:pt idx="0">
                  <c:v>Edited DOBs caught</c:v>
                </c:pt>
              </c:strCache>
            </c:strRef>
          </c:tx>
          <c:spPr>
            <a:solidFill>
              <a:srgbClr val="2B3BE6"/>
            </a:solidFill>
            <a:effectLst/>
          </c:spPr>
          <c:invertIfNegative val="0"/>
          <c:dLbls>
            <c:numFmt formatCode="0&quot;%&quot;" sourceLinked="0"/>
            <c:txPr>
              <a:bodyPr/>
              <a:lstStyle/>
              <a:p>
                <a:pPr>
                  <a:defRPr b="0" i="0" strike="noStrike" sz="1400" u="none">
                    <a:solidFill>
                      <a:srgbClr val="14161A"/>
                    </a:solidFill>
                    <a:latin typeface="+mn-lt"/>
                  </a:defRPr>
                </a:pPr>
              </a:p>
            </c:txPr>
            <c:showLegendKey val="0"/>
            <c:showVal val="1"/>
            <c:showCatName val="0"/>
            <c:showSerName val="0"/>
            <c:showPercent val="0"/>
            <c:showBubbleSize val="0"/>
            <c:showLeaderLines val="0"/>
          </c:dLbls>
          <c:cat>
            <c:multiLvlStrRef>
              <c:f>Sheet1!$A$2:$A$3</c:f>
              <c:multiLvlStrCache>
                <c:ptCount val="2"/>
                <c:lvl>
                  <c:pt idx="0">
                    <c:v>Best pixel detector (TruFor)</c:v>
                  </c:pt>
                  <c:pt idx="1">
                    <c:v>Our signed-QR check</c:v>
                  </c:pt>
                </c:lvl>
              </c:multiLvlStrCache>
            </c:multiLvlStrRef>
          </c:cat>
          <c:val>
            <c:numRef>
              <c:f>Sheet1!$B$2:$B$3</c:f>
              <c:numCache>
                <c:formatCode>General</c:formatCode>
                <c:ptCount val="2"/>
                <c:pt idx="0">
                  <c:v>49</c:v>
                </c:pt>
                <c:pt idx="1">
                  <c:v>95</c:v>
                </c:pt>
              </c:numCache>
            </c:numRef>
          </c:val>
        </c:ser>
        <c:dLbls>
          <c:numFmt formatCode="0&quot;%&quot;" sourceLinked="0"/>
          <c:txPr>
            <a:bodyPr/>
            <a:lstStyle/>
            <a:p>
              <a:pPr>
                <a:defRPr b="0" i="0" strike="noStrike" sz="1400" u="none">
                  <a:solidFill>
                    <a:srgbClr val="1416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4F59"/>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TrueID Shield answers PS3: synthetic identity fraud in automated KYC. One idea runs through the whole system: trust no single check. A case is approved only when every required check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check alone can be beaten: the document looks right, the face matches its own photo, the ID number is valid. What a fraudster can't easily do is stay consistent across every source at once. That is the gap PS3 asks us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level: synthetic identity fraud. It gets through in three ways. A forged identity: an AI-made or edited card, or a real ID with someone else's face; we trust the issuer's signed QR and the issuer's photo, not the pixels. Faked presence: deepfakes, replayed selfies, bots; we use a server-issued head-turn challenge, C2PA AI-provenance and typing rhythm. Fraud at scale: rings and repeat use across banks; we link applications in an identity graph and share keyed hashes between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pass from upload to decision. Capture the form with typing rhythm, the card, a selfie with a server-issued head-turn burst, consent and geo-tag. Seven checks run in parallel. A model ranks risk and SHAP explains it; a profile learnt from genuine applicants only catches fraud types the model never saw. The decision is an evidence policy: all 13 required checks must pass to approve. Analysts see everything with an audit trail; the learning loop proposes changes they approve; applicants get tips only for fixable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differences. The issuer's signature decides, not pixels, and that extends to real Aadhaar through UIDAI's Secure QR. Our social scoring is fair by design: opt-in, and it only counts contradictions. A naive social score would flag 20.3% of genuine applicants; ours flags 1.4%. Banks share keyed hashes, never customer data. A profile learnt only from genuine applicants catches fraud types the model never saw. The system learns from analysts but never changes itself without approval. And every upload is checked for AI-provenance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time-based test split of 444 applications with 85 fraud cases, every fraud was caught. The fused system reaches ROC-AUC 0.998 against 0.78 for the document check alone. 95% of rejections were real fraud. An adaptive attacker got 0 of 85 frauds through. Headline comparison: a state-of-the-art pixel forgery detector is at chance on an edited date of birth, while the signed-QR check catches about 95%. The data is synthetic, so we claim relative gains, not real-world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TrueID is built to plug into a bank's existing journey: the bank keeps its website and calls TrueID server to server. It follows RBI V-CIP and the DPDP Act, with an audit trail that can't be edited silently. We are upfront about the limits: synthetic data, mock registries, liveness that isn't PAD-certified yet, and SynthID only through Google's API. One idea throughout: trust no single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103120"/>
            <a:ext cx="786384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85800" y="3383280"/>
            <a:ext cx="7498080" cy="731520"/>
          </a:xfrm>
          <a:prstGeom prst="rect">
            <a:avLst/>
          </a:prstGeom>
          <a:noFill/>
          <a:ln/>
        </p:spPr>
        <p:txBody>
          <a:bodyPr wrap="square" rtlCol="0"/>
          <a:lstStyle>
            <a:lvl1pPr algn="l" indent="0" marL="0">
              <a:buNone/>
              <a:defRPr lang="en-US" sz="2400" dirty="0">
                <a:solidFill>
                  <a:srgbClr val="C9CCD3"/>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685800" y="6355080"/>
            <a:ext cx="3657600" cy="274320"/>
          </a:xfrm>
          <a:prstGeom prst="rect">
            <a:avLst/>
          </a:prstGeom>
          <a:noFill/>
          <a:ln/>
        </p:spPr>
        <p:txBody>
          <a:bodyPr wrap="square" lIns="0" tIns="0" rIns="0" bIns="0" rtlCol="0" anchor="ctr"/>
          <a:lstStyle/>
          <a:p>
            <a:pPr indent="0" marL="0">
              <a:buNone/>
            </a:pPr>
            <a:r>
              <a:rPr lang="en-US" sz="1000" dirty="0">
                <a:solidFill>
                  <a:srgbClr val="6E7380"/>
                </a:solidFill>
              </a:rPr>
              <a:t>TrueID Shield</a:t>
            </a:r>
            <a:endParaRPr lang="en-US" sz="1000" dirty="0"/>
          </a:p>
        </p:txBody>
      </p:sp>
      <p:sp>
        <p:nvSpPr>
          <p:cNvPr id="3" name="Text 1"/>
          <p:cNvSpPr/>
          <p:nvPr>
            <p:ph idx="101" type="body" hasCustomPrompt="1"/>
          </p:nvPr>
        </p:nvSpPr>
        <p:spPr>
          <a:xfrm>
            <a:off x="685800" y="457200"/>
            <a:ext cx="82296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685800" y="804672"/>
            <a:ext cx="1081735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3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685800" y="6355080"/>
            <a:ext cx="3657600" cy="274320"/>
          </a:xfrm>
          <a:prstGeom prst="rect">
            <a:avLst/>
          </a:prstGeom>
          <a:noFill/>
          <a:ln/>
        </p:spPr>
        <p:txBody>
          <a:bodyPr wrap="square" lIns="0" tIns="0" rIns="0" bIns="0" rtlCol="0" anchor="ctr"/>
          <a:lstStyle/>
          <a:p>
            <a:pPr indent="0" marL="0">
              <a:buNone/>
            </a:pPr>
            <a:r>
              <a:rPr lang="en-US" sz="1000" dirty="0">
                <a:solidFill>
                  <a:srgbClr val="8A8F99"/>
                </a:solidFill>
              </a:rPr>
              <a:t>TrueID Shield</a:t>
            </a:r>
            <a:endParaRPr lang="en-US" sz="1000" dirty="0"/>
          </a:p>
        </p:txBody>
      </p:sp>
      <p:sp>
        <p:nvSpPr>
          <p:cNvPr id="3" name="Text 1"/>
          <p:cNvSpPr/>
          <p:nvPr>
            <p:ph idx="101" type="body" hasCustomPrompt="1"/>
          </p:nvPr>
        </p:nvSpPr>
        <p:spPr>
          <a:xfrm>
            <a:off x="685800" y="457200"/>
            <a:ext cx="8229600" cy="320040"/>
          </a:xfrm>
          <a:prstGeom prst="rect">
            <a:avLst/>
          </a:prstGeom>
          <a:noFill/>
          <a:ln/>
        </p:spPr>
        <p:txBody>
          <a:bodyPr wrap="square" rtlCol="0"/>
          <a:lstStyle>
            <a:lvl1pPr indent="0" marL="0">
              <a:buNone/>
              <a:defRPr lang="en-US" sz="1200" b="1" spc="300" kern="0" dirty="0">
                <a:solidFill>
                  <a:schemeClr val="accent5"/>
                </a:solidFill>
              </a:defRPr>
            </a:lvl1pPr>
          </a:lstStyle>
          <a:p>
            <a:pPr indent="0" marL="0">
              <a:buNone/>
            </a:pPr>
            <a:endParaRPr lang="en-US" sz="1200" dirty="0"/>
          </a:p>
        </p:txBody>
      </p:sp>
      <p:sp>
        <p:nvSpPr>
          <p:cNvPr id="4" name="Text 1"/>
          <p:cNvSpPr/>
          <p:nvPr>
            <p:ph idx="102" type="title" hasCustomPrompt="1"/>
          </p:nvPr>
        </p:nvSpPr>
        <p:spPr>
          <a:xfrm>
            <a:off x="685800" y="804672"/>
            <a:ext cx="10817352"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9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3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7863840" y="-1097280"/>
            <a:ext cx="5852160" cy="5852160"/>
          </a:xfrm>
          <a:prstGeom prst="ellipse">
            <a:avLst/>
          </a:prstGeom>
          <a:solidFill>
            <a:schemeClr val="accent1">
              <a:alpha val="28000"/>
            </a:schemeClr>
          </a:solidFill>
          <a:ln/>
        </p:spPr>
      </p:sp>
      <p:sp>
        <p:nvSpPr>
          <p:cNvPr id="3" name="kicker"/>
          <p:cNvSpPr txBox="1"/>
          <p:nvPr/>
        </p:nvSpPr>
        <p:spPr>
          <a:xfrm>
            <a:off x="685800" y="1600200"/>
            <a:ext cx="7315200" cy="365760"/>
          </a:xfrm>
          <a:prstGeom prst="rect">
            <a:avLst/>
          </a:prstGeom>
          <a:noFill/>
          <a:ln/>
        </p:spPr>
        <p:txBody>
          <a:bodyPr wrap="square" lIns="0" tIns="0" rIns="0" bIns="0" rtlCol="0" anchor="ctr"/>
          <a:lstStyle/>
          <a:p>
            <a:pPr indent="0" marL="0">
              <a:buNone/>
            </a:pPr>
            <a:r>
              <a:rPr lang="en-US" sz="1400" b="1" spc="300" kern="0" dirty="0">
                <a:solidFill>
                  <a:schemeClr val="accent5"/>
                </a:solidFill>
              </a:rPr>
              <a:t>HACKSPLOIT 2026 · PROBLEM STATEMENT 3</a:t>
            </a:r>
            <a:endParaRPr lang="en-US" sz="1400" dirty="0"/>
          </a:p>
        </p:txBody>
      </p:sp>
      <p:sp>
        <p:nvSpPr>
          <p:cNvPr id="4" name="Text 0"/>
          <p:cNvSpPr/>
          <p:nvPr>
            <p:ph idx="100" type="title" hasCustomPrompt="1"/>
          </p:nvPr>
        </p:nvSpPr>
        <p:spPr>
          <a:xfrm>
            <a:off x="685800" y="2103120"/>
            <a:ext cx="7863840" cy="1188720"/>
          </a:xfrm>
          <a:prstGeom prst="rect">
            <a:avLst/>
          </a:prstGeom>
          <a:noFill/>
          <a:ln/>
        </p:spPr>
        <p:txBody>
          <a:bodyPr wrap="square" lIns="0" tIns="0" rIns="0" bIns="0" rtlCol="0" anchor="b"/>
          <a:lstStyle/>
          <a:p>
            <a:pPr algn="l" indent="0" marL="0">
              <a:buNone/>
            </a:pPr>
            <a:r>
              <a:rPr lang="en-US" sz="6000" b="1" dirty="0">
                <a:solidFill>
                  <a:schemeClr val="bg1"/>
                </a:solidFill>
              </a:rPr>
              <a:t>TrueID Shield</a:t>
            </a:r>
            <a:endParaRPr lang="en-US" sz="6000" dirty="0"/>
          </a:p>
        </p:txBody>
      </p:sp>
      <p:sp>
        <p:nvSpPr>
          <p:cNvPr id="5" name="Text 0"/>
          <p:cNvSpPr/>
          <p:nvPr>
            <p:ph idx="101" type="body" hasCustomPrompt="1"/>
          </p:nvPr>
        </p:nvSpPr>
        <p:spPr>
          <a:xfrm>
            <a:off x="685800" y="3383280"/>
            <a:ext cx="7498080" cy="731520"/>
          </a:xfrm>
          <a:prstGeom prst="rect">
            <a:avLst/>
          </a:prstGeom>
          <a:noFill/>
          <a:ln/>
        </p:spPr>
        <p:txBody>
          <a:bodyPr wrap="square" lIns="0" tIns="0" rIns="0" bIns="0" rtlCol="0" anchor="t"/>
          <a:lstStyle/>
          <a:p>
            <a:pPr algn="l" indent="0" marL="0">
              <a:buNone/>
            </a:pPr>
            <a:r>
              <a:rPr lang="en-US" sz="2400" dirty="0">
                <a:solidFill>
                  <a:srgbClr val="C9CCD3"/>
                </a:solidFill>
              </a:rPr>
              <a:t>Detecting synthetic identity fraud in automated KYC</a:t>
            </a:r>
            <a:endParaRPr lang="en-US" sz="2400" dirty="0"/>
          </a:p>
        </p:txBody>
      </p:sp>
      <p:sp>
        <p:nvSpPr>
          <p:cNvPr id="6" name="tagline"/>
          <p:cNvSpPr txBox="1"/>
          <p:nvPr/>
        </p:nvSpPr>
        <p:spPr>
          <a:xfrm>
            <a:off x="685800" y="4343400"/>
            <a:ext cx="3566160" cy="548640"/>
          </a:xfrm>
          <a:prstGeom prst="roundRect">
            <a:avLst>
              <a:gd name="adj" fmla="val 50000"/>
            </a:avLst>
          </a:prstGeom>
          <a:solidFill>
            <a:schemeClr val="accent1"/>
          </a:solidFill>
          <a:ln/>
        </p:spPr>
        <p:txBody>
          <a:bodyPr wrap="square" lIns="0" tIns="0" rIns="0" bIns="0" rtlCol="0" anchor="ctr"/>
          <a:lstStyle/>
          <a:p>
            <a:pPr algn="ctr" indent="0" marL="0">
              <a:buNone/>
            </a:pPr>
            <a:r>
              <a:rPr lang="en-US" sz="1800" b="1" dirty="0">
                <a:solidFill>
                  <a:schemeClr val="bg1"/>
                </a:solidFill>
              </a:rPr>
              <a:t>Trust no single check.</a:t>
            </a:r>
            <a:endParaRPr lang="en-US" sz="1800" dirty="0"/>
          </a:p>
        </p:txBody>
      </p:sp>
      <p:sp>
        <p:nvSpPr>
          <p:cNvPr id="7" name="verdict stamp"/>
          <p:cNvSpPr txBox="1"/>
          <p:nvPr/>
        </p:nvSpPr>
        <p:spPr>
          <a:xfrm rot="-360000">
            <a:off x="8503920" y="2514600"/>
            <a:ext cx="2834640" cy="777240"/>
          </a:xfrm>
          <a:prstGeom prst="roundRect">
            <a:avLst>
              <a:gd name="adj" fmla="val 11765"/>
            </a:avLst>
          </a:prstGeom>
          <a:noFill/>
          <a:ln w="38100">
            <a:solidFill>
              <a:srgbClr val="3FB984"/>
            </a:solidFill>
          </a:ln>
        </p:spPr>
        <p:txBody>
          <a:bodyPr wrap="square" lIns="0" tIns="0" rIns="0" bIns="0" rtlCol="0" anchor="ctr"/>
          <a:lstStyle/>
          <a:p>
            <a:pPr algn="ctr" indent="0" marL="0">
              <a:buNone/>
            </a:pPr>
            <a:r>
              <a:rPr lang="en-US" sz="2400" b="1" spc="200" kern="0" dirty="0">
                <a:solidFill>
                  <a:schemeClr val="accent6"/>
                </a:solidFill>
                <a:latin typeface="Arial" pitchFamily="34" charset="0"/>
                <a:ea typeface="Arial" pitchFamily="34" charset="-122"/>
                <a:cs typeface="Arial" pitchFamily="34" charset="-120"/>
              </a:rPr>
              <a:t>13 / 13 CHECKS</a:t>
            </a:r>
            <a:endParaRPr lang="en-US" sz="2400" dirty="0"/>
          </a:p>
        </p:txBody>
      </p:sp>
      <p:sp>
        <p:nvSpPr>
          <p:cNvPr id="8" name="footer"/>
          <p:cNvSpPr txBox="1"/>
          <p:nvPr/>
        </p:nvSpPr>
        <p:spPr>
          <a:xfrm>
            <a:off x="685800" y="6263640"/>
            <a:ext cx="5486400" cy="320040"/>
          </a:xfrm>
          <a:prstGeom prst="rect">
            <a:avLst/>
          </a:prstGeom>
          <a:noFill/>
          <a:ln/>
        </p:spPr>
        <p:txBody>
          <a:bodyPr wrap="square" lIns="0" tIns="0" rIns="0" bIns="0" rtlCol="0" anchor="ctr"/>
          <a:lstStyle/>
          <a:p>
            <a:pPr indent="0" marL="0">
              <a:buNone/>
            </a:pPr>
            <a:r>
              <a:rPr lang="en-US" sz="1200" dirty="0">
                <a:solidFill>
                  <a:srgbClr val="8A8F99"/>
                </a:solidFill>
              </a:rPr>
              <a:t>NIT Goa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8229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a:t>
            </a:r>
            <a:endParaRPr lang="en-US" sz="1200" dirty="0"/>
          </a:p>
        </p:txBody>
      </p:sp>
      <p:sp>
        <p:nvSpPr>
          <p:cNvPr id="3" name="Text 1"/>
          <p:cNvSpPr/>
          <p:nvPr>
            <p:ph idx="102" type="title" hasCustomPrompt="1"/>
          </p:nvPr>
        </p:nvSpPr>
        <p:spPr>
          <a:xfrm>
            <a:off x="685800" y="804672"/>
            <a:ext cx="10817352" cy="731520"/>
          </a:xfrm>
          <a:prstGeom prst="rect">
            <a:avLst/>
          </a:prstGeom>
          <a:noFill/>
          <a:ln/>
        </p:spPr>
        <p:txBody>
          <a:bodyPr wrap="square" lIns="0" tIns="0" rIns="0" bIns="0" rtlCol="0" anchor="ctr"/>
          <a:lstStyle/>
          <a:p>
            <a:pPr algn="l" indent="0" marL="0">
              <a:buNone/>
            </a:pPr>
            <a:r>
              <a:rPr lang="en-US" sz="3200" b="1" dirty="0">
                <a:solidFill>
                  <a:schemeClr val="tx1"/>
                </a:solidFill>
              </a:rPr>
              <a:t>A synthetic identity passes every check on its own</a:t>
            </a:r>
            <a:endParaRPr lang="en-US" sz="3200" dirty="0"/>
          </a:p>
        </p:txBody>
      </p:sp>
      <p:sp>
        <p:nvSpPr>
          <p:cNvPr id="4" name="definition"/>
          <p:cNvSpPr txBox="1"/>
          <p:nvPr/>
        </p:nvSpPr>
        <p:spPr>
          <a:xfrm>
            <a:off x="685800" y="1691640"/>
            <a:ext cx="10058400" cy="640080"/>
          </a:xfrm>
          <a:prstGeom prst="rect">
            <a:avLst/>
          </a:prstGeom>
          <a:noFill/>
          <a:ln/>
        </p:spPr>
        <p:txBody>
          <a:bodyPr wrap="square" lIns="0" tIns="0" rIns="0" bIns="0" rtlCol="0" anchor="ctr"/>
          <a:lstStyle/>
          <a:p>
            <a:pPr indent="0" marL="0">
              <a:buNone/>
            </a:pPr>
            <a:r>
              <a:rPr lang="en-US" sz="1800" b="1" dirty="0">
                <a:solidFill>
                  <a:schemeClr val="tx1"/>
                </a:solidFill>
              </a:rPr>
              <a:t>PS3: </a:t>
            </a:r>
            <a:pPr indent="0" marL="0">
              <a:buNone/>
            </a:pPr>
            <a:r>
              <a:rPr lang="en-US" sz="1800" dirty="0">
                <a:solidFill>
                  <a:schemeClr val="tx2"/>
                </a:solidFill>
              </a:rPr>
              <a:t>detect identities that are part real, part invented, in automated KYC, where no person ever looks at the documents.</a:t>
            </a:r>
            <a:endParaRPr lang="en-US" sz="1800" dirty="0"/>
          </a:p>
        </p:txBody>
      </p:sp>
      <p:sp>
        <p:nvSpPr>
          <p:cNvPr id="5" name="card 1"/>
          <p:cNvSpPr/>
          <p:nvPr/>
        </p:nvSpPr>
        <p:spPr>
          <a:xfrm>
            <a:off x="685800" y="2697480"/>
            <a:ext cx="3362249" cy="3108960"/>
          </a:xfrm>
          <a:prstGeom prst="roundRect">
            <a:avLst>
              <a:gd name="adj" fmla="val 4412"/>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6" name="card 1 circle"/>
          <p:cNvSpPr/>
          <p:nvPr/>
        </p:nvSpPr>
        <p:spPr>
          <a:xfrm>
            <a:off x="1051560" y="3063240"/>
            <a:ext cx="685800" cy="685800"/>
          </a:xfrm>
          <a:prstGeom prst="ellipse">
            <a:avLst/>
          </a:prstGeom>
          <a:solidFill>
            <a:srgbClr val="2B3BE6"/>
          </a:solidFill>
          <a:ln/>
        </p:spPr>
      </p:sp>
      <p:pic>
        <p:nvPicPr>
          <p:cNvPr id="7" name="card 1 icon" descr="preencoded.png">    </p:cNvPr>
          <p:cNvPicPr>
            <a:picLocks noChangeAspect="1"/>
          </p:cNvPicPr>
          <p:nvPr/>
        </p:nvPicPr>
        <p:blipFill>
          <a:blip r:embed="rId1"/>
          <a:stretch>
            <a:fillRect/>
          </a:stretch>
        </p:blipFill>
        <p:spPr>
          <a:xfrm>
            <a:off x="1202436" y="3214116"/>
            <a:ext cx="384048" cy="384048"/>
          </a:xfrm>
          <a:prstGeom prst="rect">
            <a:avLst/>
          </a:prstGeom>
        </p:spPr>
      </p:pic>
      <p:sp>
        <p:nvSpPr>
          <p:cNvPr id="8" name="card 1 title"/>
          <p:cNvSpPr txBox="1"/>
          <p:nvPr/>
        </p:nvSpPr>
        <p:spPr>
          <a:xfrm>
            <a:off x="1051560" y="3977640"/>
            <a:ext cx="2651760"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Real + invented</a:t>
            </a:r>
            <a:endParaRPr lang="en-US" sz="2200" dirty="0"/>
          </a:p>
        </p:txBody>
      </p:sp>
      <p:sp>
        <p:nvSpPr>
          <p:cNvPr id="9" name="card 1 body"/>
          <p:cNvSpPr txBox="1"/>
          <p:nvPr/>
        </p:nvSpPr>
        <p:spPr>
          <a:xfrm>
            <a:off x="1051560" y="4526280"/>
            <a:ext cx="2651760" cy="1005840"/>
          </a:xfrm>
          <a:prstGeom prst="rect">
            <a:avLst/>
          </a:prstGeom>
          <a:noFill/>
          <a:ln/>
        </p:spPr>
        <p:txBody>
          <a:bodyPr wrap="square" lIns="0" tIns="0" rIns="0" bIns="0" rtlCol="0" anchor="t"/>
          <a:lstStyle/>
          <a:p>
            <a:pPr indent="0" marL="0">
              <a:buNone/>
            </a:pPr>
            <a:r>
              <a:rPr lang="en-US" sz="1600" dirty="0">
                <a:solidFill>
                  <a:schemeClr val="tx2"/>
                </a:solidFill>
              </a:rPr>
              <a:t>A valid ID number, a real-looking card, a face that matches its own photo.</a:t>
            </a:r>
            <a:endParaRPr lang="en-US" sz="1600" dirty="0"/>
          </a:p>
        </p:txBody>
      </p:sp>
      <p:sp>
        <p:nvSpPr>
          <p:cNvPr id="10" name="card 2"/>
          <p:cNvSpPr/>
          <p:nvPr/>
        </p:nvSpPr>
        <p:spPr>
          <a:xfrm>
            <a:off x="4413809" y="2697480"/>
            <a:ext cx="3362249" cy="3108960"/>
          </a:xfrm>
          <a:prstGeom prst="roundRect">
            <a:avLst>
              <a:gd name="adj" fmla="val 4412"/>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11" name="card 2 circle"/>
          <p:cNvSpPr/>
          <p:nvPr/>
        </p:nvSpPr>
        <p:spPr>
          <a:xfrm>
            <a:off x="4779569" y="3063240"/>
            <a:ext cx="685800" cy="685800"/>
          </a:xfrm>
          <a:prstGeom prst="ellipse">
            <a:avLst/>
          </a:prstGeom>
          <a:solidFill>
            <a:srgbClr val="2B3BE6"/>
          </a:solidFill>
          <a:ln/>
        </p:spPr>
      </p:sp>
      <p:pic>
        <p:nvPicPr>
          <p:cNvPr id="12" name="card 2 icon" descr="preencoded.png">    </p:cNvPr>
          <p:cNvPicPr>
            <a:picLocks noChangeAspect="1"/>
          </p:cNvPicPr>
          <p:nvPr/>
        </p:nvPicPr>
        <p:blipFill>
          <a:blip r:embed="rId2"/>
          <a:stretch>
            <a:fillRect/>
          </a:stretch>
        </p:blipFill>
        <p:spPr>
          <a:xfrm>
            <a:off x="4930445" y="3214116"/>
            <a:ext cx="384048" cy="384048"/>
          </a:xfrm>
          <a:prstGeom prst="rect">
            <a:avLst/>
          </a:prstGeom>
        </p:spPr>
      </p:pic>
      <p:sp>
        <p:nvSpPr>
          <p:cNvPr id="13" name="card 2 title"/>
          <p:cNvSpPr txBox="1"/>
          <p:nvPr/>
        </p:nvSpPr>
        <p:spPr>
          <a:xfrm>
            <a:off x="4779569" y="3977640"/>
            <a:ext cx="2651760"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Cheap to make</a:t>
            </a:r>
            <a:endParaRPr lang="en-US" sz="2200" dirty="0"/>
          </a:p>
        </p:txBody>
      </p:sp>
      <p:sp>
        <p:nvSpPr>
          <p:cNvPr id="14" name="card 2 body"/>
          <p:cNvSpPr txBox="1"/>
          <p:nvPr/>
        </p:nvSpPr>
        <p:spPr>
          <a:xfrm>
            <a:off x="4779569" y="4526280"/>
            <a:ext cx="2651760" cy="1005840"/>
          </a:xfrm>
          <a:prstGeom prst="rect">
            <a:avLst/>
          </a:prstGeom>
          <a:noFill/>
          <a:ln/>
        </p:spPr>
        <p:txBody>
          <a:bodyPr wrap="square" lIns="0" tIns="0" rIns="0" bIns="0" rtlCol="0" anchor="t"/>
          <a:lstStyle/>
          <a:p>
            <a:pPr indent="0" marL="0">
              <a:buNone/>
            </a:pPr>
            <a:r>
              <a:rPr lang="en-US" sz="1600" dirty="0">
                <a:solidFill>
                  <a:schemeClr val="tx2"/>
                </a:solidFill>
              </a:rPr>
              <a:t>Image generators and deepfakes produce cards and selfies on demand.</a:t>
            </a:r>
            <a:endParaRPr lang="en-US" sz="1600" dirty="0"/>
          </a:p>
        </p:txBody>
      </p:sp>
      <p:sp>
        <p:nvSpPr>
          <p:cNvPr id="15" name="card 3"/>
          <p:cNvSpPr/>
          <p:nvPr/>
        </p:nvSpPr>
        <p:spPr>
          <a:xfrm>
            <a:off x="8141818" y="2697480"/>
            <a:ext cx="3362249" cy="3108960"/>
          </a:xfrm>
          <a:prstGeom prst="roundRect">
            <a:avLst>
              <a:gd name="adj" fmla="val 4412"/>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16" name="card 3 circle"/>
          <p:cNvSpPr/>
          <p:nvPr/>
        </p:nvSpPr>
        <p:spPr>
          <a:xfrm>
            <a:off x="8507578" y="3063240"/>
            <a:ext cx="685800" cy="685800"/>
          </a:xfrm>
          <a:prstGeom prst="ellipse">
            <a:avLst/>
          </a:prstGeom>
          <a:solidFill>
            <a:srgbClr val="2B3BE6"/>
          </a:solidFill>
          <a:ln/>
        </p:spPr>
      </p:sp>
      <p:pic>
        <p:nvPicPr>
          <p:cNvPr id="17" name="card 3 icon" descr="preencoded.png">    </p:cNvPr>
          <p:cNvPicPr>
            <a:picLocks noChangeAspect="1"/>
          </p:cNvPicPr>
          <p:nvPr/>
        </p:nvPicPr>
        <p:blipFill>
          <a:blip r:embed="rId3"/>
          <a:stretch>
            <a:fillRect/>
          </a:stretch>
        </p:blipFill>
        <p:spPr>
          <a:xfrm>
            <a:off x="8658454" y="3214116"/>
            <a:ext cx="384048" cy="384048"/>
          </a:xfrm>
          <a:prstGeom prst="rect">
            <a:avLst/>
          </a:prstGeom>
        </p:spPr>
      </p:pic>
      <p:sp>
        <p:nvSpPr>
          <p:cNvPr id="18" name="card 3 title"/>
          <p:cNvSpPr txBox="1"/>
          <p:nvPr/>
        </p:nvSpPr>
        <p:spPr>
          <a:xfrm>
            <a:off x="8507578" y="3977640"/>
            <a:ext cx="2651760"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Built to scale</a:t>
            </a:r>
            <a:endParaRPr lang="en-US" sz="2200" dirty="0"/>
          </a:p>
        </p:txBody>
      </p:sp>
      <p:sp>
        <p:nvSpPr>
          <p:cNvPr id="19" name="card 3 body"/>
          <p:cNvSpPr txBox="1"/>
          <p:nvPr/>
        </p:nvSpPr>
        <p:spPr>
          <a:xfrm>
            <a:off x="8507578" y="4526280"/>
            <a:ext cx="2651760" cy="1005840"/>
          </a:xfrm>
          <a:prstGeom prst="rect">
            <a:avLst/>
          </a:prstGeom>
          <a:noFill/>
          <a:ln/>
        </p:spPr>
        <p:txBody>
          <a:bodyPr wrap="square" lIns="0" tIns="0" rIns="0" bIns="0" rtlCol="0" anchor="t"/>
          <a:lstStyle/>
          <a:p>
            <a:pPr indent="0" marL="0">
              <a:buNone/>
            </a:pPr>
            <a:r>
              <a:rPr lang="en-US" sz="1600" dirty="0">
                <a:solidFill>
                  <a:schemeClr val="tx2"/>
                </a:solidFill>
              </a:rPr>
              <a:t>Rings and mule accounts reuse faces, devices and phones across banks.</a:t>
            </a:r>
            <a:endParaRPr lang="en-US" sz="16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3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8229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 BROKEN DOWN</a:t>
            </a:r>
            <a:endParaRPr lang="en-US" sz="1200" dirty="0"/>
          </a:p>
        </p:txBody>
      </p:sp>
      <p:sp>
        <p:nvSpPr>
          <p:cNvPr id="3" name="Text 1"/>
          <p:cNvSpPr/>
          <p:nvPr>
            <p:ph idx="102" type="title" hasCustomPrompt="1"/>
          </p:nvPr>
        </p:nvSpPr>
        <p:spPr>
          <a:xfrm>
            <a:off x="685800" y="804672"/>
            <a:ext cx="10817352" cy="731520"/>
          </a:xfrm>
          <a:prstGeom prst="rect">
            <a:avLst/>
          </a:prstGeom>
          <a:noFill/>
          <a:ln/>
        </p:spPr>
        <p:txBody>
          <a:bodyPr wrap="square" lIns="0" tIns="0" rIns="0" bIns="0" rtlCol="0" anchor="ctr"/>
          <a:lstStyle/>
          <a:p>
            <a:pPr algn="l" indent="0" marL="0">
              <a:buNone/>
            </a:pPr>
            <a:r>
              <a:rPr lang="en-US" sz="3200" b="1" dirty="0">
                <a:solidFill>
                  <a:schemeClr val="tx1"/>
                </a:solidFill>
              </a:rPr>
              <a:t>Three ways a fake identity gets through</a:t>
            </a:r>
            <a:endParaRPr lang="en-US" sz="3200" dirty="0"/>
          </a:p>
        </p:txBody>
      </p:sp>
      <p:sp>
        <p:nvSpPr>
          <p:cNvPr id="4" name="root"/>
          <p:cNvSpPr txBox="1"/>
          <p:nvPr/>
        </p:nvSpPr>
        <p:spPr>
          <a:xfrm>
            <a:off x="3353105" y="1737360"/>
            <a:ext cx="5486400" cy="566928"/>
          </a:xfrm>
          <a:prstGeom prst="roundRect">
            <a:avLst>
              <a:gd name="adj" fmla="val 16129"/>
            </a:avLst>
          </a:prstGeom>
          <a:solidFill>
            <a:schemeClr val="tx1"/>
          </a:solidFill>
          <a:ln/>
        </p:spPr>
        <p:txBody>
          <a:bodyPr wrap="square" lIns="0" tIns="0" rIns="0" bIns="0" rtlCol="0" anchor="ctr"/>
          <a:lstStyle/>
          <a:p>
            <a:pPr algn="ctr" indent="0" marL="0">
              <a:buNone/>
            </a:pPr>
            <a:r>
              <a:rPr lang="en-US" sz="1600" b="1" dirty="0">
                <a:solidFill>
                  <a:schemeClr val="bg1"/>
                </a:solidFill>
              </a:rPr>
              <a:t>Synthetic identity fraud in automated KYC</a:t>
            </a:r>
            <a:endParaRPr lang="en-US" sz="1600" dirty="0"/>
          </a:p>
        </p:txBody>
      </p:sp>
      <p:sp>
        <p:nvSpPr>
          <p:cNvPr id="5" name="trunk"/>
          <p:cNvSpPr/>
          <p:nvPr/>
        </p:nvSpPr>
        <p:spPr>
          <a:xfrm>
            <a:off x="6096305" y="2304288"/>
            <a:ext cx="0" cy="256032"/>
          </a:xfrm>
          <a:prstGeom prst="line">
            <a:avLst/>
          </a:prstGeom>
          <a:noFill/>
          <a:ln w="25400">
            <a:solidFill>
              <a:srgbClr val="8A8F99"/>
            </a:solidFill>
            <a:prstDash val="solid"/>
          </a:ln>
        </p:spPr>
      </p:sp>
      <p:sp>
        <p:nvSpPr>
          <p:cNvPr id="6" name="branch bar"/>
          <p:cNvSpPr/>
          <p:nvPr/>
        </p:nvSpPr>
        <p:spPr>
          <a:xfrm>
            <a:off x="2367382" y="2560320"/>
            <a:ext cx="7457846" cy="0"/>
          </a:xfrm>
          <a:prstGeom prst="line">
            <a:avLst/>
          </a:prstGeom>
          <a:noFill/>
          <a:ln w="25400">
            <a:solidFill>
              <a:srgbClr val="8A8F99"/>
            </a:solidFill>
            <a:prstDash val="solid"/>
          </a:ln>
        </p:spPr>
      </p:sp>
      <p:sp>
        <p:nvSpPr>
          <p:cNvPr id="7" name="branch 1 arrow"/>
          <p:cNvSpPr/>
          <p:nvPr/>
        </p:nvSpPr>
        <p:spPr>
          <a:xfrm>
            <a:off x="2366924" y="2560320"/>
            <a:ext cx="0" cy="256032"/>
          </a:xfrm>
          <a:prstGeom prst="line">
            <a:avLst/>
          </a:prstGeom>
          <a:noFill/>
          <a:ln w="25400">
            <a:solidFill>
              <a:srgbClr val="8A8F99"/>
            </a:solidFill>
            <a:prstDash val="solid"/>
            <a:tailEnd type="triangle"/>
          </a:ln>
        </p:spPr>
      </p:sp>
      <p:sp>
        <p:nvSpPr>
          <p:cNvPr id="8" name="branch 1"/>
          <p:cNvSpPr/>
          <p:nvPr/>
        </p:nvSpPr>
        <p:spPr>
          <a:xfrm>
            <a:off x="685800" y="2834640"/>
            <a:ext cx="3362249" cy="3291840"/>
          </a:xfrm>
          <a:prstGeom prst="roundRect">
            <a:avLst>
              <a:gd name="adj" fmla="val 4167"/>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9" name="branch 1 number"/>
          <p:cNvSpPr txBox="1"/>
          <p:nvPr/>
        </p:nvSpPr>
        <p:spPr>
          <a:xfrm>
            <a:off x="1005840" y="3154680"/>
            <a:ext cx="548640" cy="548640"/>
          </a:xfrm>
          <a:prstGeom prst="ellipse">
            <a:avLst/>
          </a:prstGeom>
          <a:solidFill>
            <a:srgbClr val="C8361F"/>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10" name="branch 1 title"/>
          <p:cNvSpPr txBox="1"/>
          <p:nvPr/>
        </p:nvSpPr>
        <p:spPr>
          <a:xfrm>
            <a:off x="1691640" y="3154680"/>
            <a:ext cx="2194560" cy="54864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Forged identity</a:t>
            </a:r>
            <a:endParaRPr lang="en-US" sz="2000" dirty="0"/>
          </a:p>
        </p:txBody>
      </p:sp>
      <p:sp>
        <p:nvSpPr>
          <p:cNvPr id="11" name="branch 1 threats"/>
          <p:cNvSpPr txBox="1"/>
          <p:nvPr/>
        </p:nvSpPr>
        <p:spPr>
          <a:xfrm>
            <a:off x="1005840" y="3886200"/>
            <a:ext cx="2743200" cy="91440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2"/>
                </a:solidFill>
              </a:rPr>
              <a:t>AI-made or edited ID card</a:t>
            </a:r>
            <a:endParaRPr lang="en-US" sz="1500" dirty="0"/>
          </a:p>
          <a:p>
            <a:pPr marL="177800" indent="-177800">
              <a:spcAft>
                <a:spcPts val="400"/>
              </a:spcAft>
              <a:buSzPct val="100000"/>
              <a:buChar char="•"/>
            </a:pPr>
            <a:r>
              <a:rPr lang="en-US" sz="1500" dirty="0">
                <a:solidFill>
                  <a:schemeClr val="tx2"/>
                </a:solidFill>
              </a:rPr>
              <a:t>Real ID number, someone else’s face</a:t>
            </a:r>
            <a:endParaRPr lang="en-US" sz="1500" dirty="0"/>
          </a:p>
        </p:txBody>
      </p:sp>
      <p:sp>
        <p:nvSpPr>
          <p:cNvPr id="12" name="branch 1 divider"/>
          <p:cNvSpPr/>
          <p:nvPr/>
        </p:nvSpPr>
        <p:spPr>
          <a:xfrm>
            <a:off x="1005840" y="4937760"/>
            <a:ext cx="2724912" cy="0"/>
          </a:xfrm>
          <a:prstGeom prst="line">
            <a:avLst/>
          </a:prstGeom>
          <a:noFill/>
          <a:ln w="12700">
            <a:solidFill>
              <a:srgbClr val="E3E4DF"/>
            </a:solidFill>
            <a:prstDash val="solid"/>
          </a:ln>
        </p:spPr>
      </p:sp>
      <p:sp>
        <p:nvSpPr>
          <p:cNvPr id="13" name="branch 1 label"/>
          <p:cNvSpPr txBox="1"/>
          <p:nvPr/>
        </p:nvSpPr>
        <p:spPr>
          <a:xfrm>
            <a:off x="1005840" y="5047488"/>
            <a:ext cx="2743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OUR ANSWER</a:t>
            </a:r>
            <a:endParaRPr lang="en-US" sz="1100" dirty="0"/>
          </a:p>
        </p:txBody>
      </p:sp>
      <p:sp>
        <p:nvSpPr>
          <p:cNvPr id="14" name="branch 1 answer"/>
          <p:cNvSpPr txBox="1"/>
          <p:nvPr/>
        </p:nvSpPr>
        <p:spPr>
          <a:xfrm>
            <a:off x="1005840" y="5349240"/>
            <a:ext cx="2743200" cy="640080"/>
          </a:xfrm>
          <a:prstGeom prst="rect">
            <a:avLst/>
          </a:prstGeom>
          <a:noFill/>
          <a:ln/>
        </p:spPr>
        <p:txBody>
          <a:bodyPr wrap="square" lIns="0" tIns="0" rIns="0" bIns="0" rtlCol="0" anchor="t"/>
          <a:lstStyle/>
          <a:p>
            <a:pPr indent="0" marL="0">
              <a:buNone/>
            </a:pPr>
            <a:r>
              <a:rPr lang="en-US" sz="1500" b="1" dirty="0">
                <a:solidFill>
                  <a:schemeClr val="tx1"/>
                </a:solidFill>
              </a:rPr>
              <a:t>Issuer-signed QR and the issuer’s own photo</a:t>
            </a:r>
            <a:endParaRPr lang="en-US" sz="1500" dirty="0"/>
          </a:p>
        </p:txBody>
      </p:sp>
      <p:sp>
        <p:nvSpPr>
          <p:cNvPr id="15" name="branch 2 arrow"/>
          <p:cNvSpPr/>
          <p:nvPr/>
        </p:nvSpPr>
        <p:spPr>
          <a:xfrm>
            <a:off x="6094933" y="2560320"/>
            <a:ext cx="0" cy="256032"/>
          </a:xfrm>
          <a:prstGeom prst="line">
            <a:avLst/>
          </a:prstGeom>
          <a:noFill/>
          <a:ln w="25400">
            <a:solidFill>
              <a:srgbClr val="8A8F99"/>
            </a:solidFill>
            <a:prstDash val="solid"/>
            <a:tailEnd type="triangle"/>
          </a:ln>
        </p:spPr>
      </p:sp>
      <p:sp>
        <p:nvSpPr>
          <p:cNvPr id="16" name="branch 2"/>
          <p:cNvSpPr/>
          <p:nvPr/>
        </p:nvSpPr>
        <p:spPr>
          <a:xfrm>
            <a:off x="4413809" y="2834640"/>
            <a:ext cx="3362249" cy="3291840"/>
          </a:xfrm>
          <a:prstGeom prst="roundRect">
            <a:avLst>
              <a:gd name="adj" fmla="val 4167"/>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17" name="branch 2 number"/>
          <p:cNvSpPr txBox="1"/>
          <p:nvPr/>
        </p:nvSpPr>
        <p:spPr>
          <a:xfrm>
            <a:off x="4733849" y="3154680"/>
            <a:ext cx="548640" cy="548640"/>
          </a:xfrm>
          <a:prstGeom prst="ellipse">
            <a:avLst/>
          </a:prstGeom>
          <a:solidFill>
            <a:srgbClr val="B4690E"/>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8" name="branch 2 title"/>
          <p:cNvSpPr txBox="1"/>
          <p:nvPr/>
        </p:nvSpPr>
        <p:spPr>
          <a:xfrm>
            <a:off x="5419649" y="3154680"/>
            <a:ext cx="2194560" cy="54864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Faked presence</a:t>
            </a:r>
            <a:endParaRPr lang="en-US" sz="2000" dirty="0"/>
          </a:p>
        </p:txBody>
      </p:sp>
      <p:sp>
        <p:nvSpPr>
          <p:cNvPr id="19" name="branch 2 threats"/>
          <p:cNvSpPr txBox="1"/>
          <p:nvPr/>
        </p:nvSpPr>
        <p:spPr>
          <a:xfrm>
            <a:off x="4733849" y="3886200"/>
            <a:ext cx="2743200" cy="91440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2"/>
                </a:solidFill>
              </a:rPr>
              <a:t>Deepfake or replayed selfie</a:t>
            </a:r>
            <a:endParaRPr lang="en-US" sz="1500" dirty="0"/>
          </a:p>
          <a:p>
            <a:pPr marL="177800" indent="-177800">
              <a:spcAft>
                <a:spcPts val="400"/>
              </a:spcAft>
              <a:buSzPct val="100000"/>
              <a:buChar char="•"/>
            </a:pPr>
            <a:r>
              <a:rPr lang="en-US" sz="1500" dirty="0">
                <a:solidFill>
                  <a:schemeClr val="tx2"/>
                </a:solidFill>
              </a:rPr>
              <a:t>Bots filling in the form</a:t>
            </a:r>
            <a:endParaRPr lang="en-US" sz="1500" dirty="0"/>
          </a:p>
        </p:txBody>
      </p:sp>
      <p:sp>
        <p:nvSpPr>
          <p:cNvPr id="20" name="branch 2 divider"/>
          <p:cNvSpPr/>
          <p:nvPr/>
        </p:nvSpPr>
        <p:spPr>
          <a:xfrm>
            <a:off x="4733849" y="4937760"/>
            <a:ext cx="2724912" cy="0"/>
          </a:xfrm>
          <a:prstGeom prst="line">
            <a:avLst/>
          </a:prstGeom>
          <a:noFill/>
          <a:ln w="12700">
            <a:solidFill>
              <a:srgbClr val="E3E4DF"/>
            </a:solidFill>
            <a:prstDash val="solid"/>
          </a:ln>
        </p:spPr>
      </p:sp>
      <p:sp>
        <p:nvSpPr>
          <p:cNvPr id="21" name="branch 2 label"/>
          <p:cNvSpPr txBox="1"/>
          <p:nvPr/>
        </p:nvSpPr>
        <p:spPr>
          <a:xfrm>
            <a:off x="4733849" y="5047488"/>
            <a:ext cx="2743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OUR ANSWER</a:t>
            </a:r>
            <a:endParaRPr lang="en-US" sz="1100" dirty="0"/>
          </a:p>
        </p:txBody>
      </p:sp>
      <p:sp>
        <p:nvSpPr>
          <p:cNvPr id="22" name="branch 2 answer"/>
          <p:cNvSpPr txBox="1"/>
          <p:nvPr/>
        </p:nvSpPr>
        <p:spPr>
          <a:xfrm>
            <a:off x="4733849" y="5349240"/>
            <a:ext cx="2743200" cy="640080"/>
          </a:xfrm>
          <a:prstGeom prst="rect">
            <a:avLst/>
          </a:prstGeom>
          <a:noFill/>
          <a:ln/>
        </p:spPr>
        <p:txBody>
          <a:bodyPr wrap="square" lIns="0" tIns="0" rIns="0" bIns="0" rtlCol="0" anchor="t"/>
          <a:lstStyle/>
          <a:p>
            <a:pPr indent="0" marL="0">
              <a:buNone/>
            </a:pPr>
            <a:r>
              <a:rPr lang="en-US" sz="1500" b="1" dirty="0">
                <a:solidFill>
                  <a:schemeClr val="tx1"/>
                </a:solidFill>
              </a:rPr>
              <a:t>Head-turn liveness, AI-provenance and typing rhythm</a:t>
            </a:r>
            <a:endParaRPr lang="en-US" sz="1500" dirty="0"/>
          </a:p>
        </p:txBody>
      </p:sp>
      <p:sp>
        <p:nvSpPr>
          <p:cNvPr id="23" name="branch 3 arrow"/>
          <p:cNvSpPr/>
          <p:nvPr/>
        </p:nvSpPr>
        <p:spPr>
          <a:xfrm>
            <a:off x="9822942" y="2560320"/>
            <a:ext cx="0" cy="256032"/>
          </a:xfrm>
          <a:prstGeom prst="line">
            <a:avLst/>
          </a:prstGeom>
          <a:noFill/>
          <a:ln w="25400">
            <a:solidFill>
              <a:srgbClr val="8A8F99"/>
            </a:solidFill>
            <a:prstDash val="solid"/>
            <a:tailEnd type="triangle"/>
          </a:ln>
        </p:spPr>
      </p:sp>
      <p:sp>
        <p:nvSpPr>
          <p:cNvPr id="24" name="branch 3"/>
          <p:cNvSpPr/>
          <p:nvPr/>
        </p:nvSpPr>
        <p:spPr>
          <a:xfrm>
            <a:off x="8141818" y="2834640"/>
            <a:ext cx="3362249" cy="3291840"/>
          </a:xfrm>
          <a:prstGeom prst="roundRect">
            <a:avLst>
              <a:gd name="adj" fmla="val 4167"/>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25" name="branch 3 number"/>
          <p:cNvSpPr txBox="1"/>
          <p:nvPr/>
        </p:nvSpPr>
        <p:spPr>
          <a:xfrm>
            <a:off x="8461858" y="3154680"/>
            <a:ext cx="548640" cy="548640"/>
          </a:xfrm>
          <a:prstGeom prst="ellipse">
            <a:avLst/>
          </a:prstGeom>
          <a:solidFill>
            <a:srgbClr val="2B3BE6"/>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26" name="branch 3 title"/>
          <p:cNvSpPr txBox="1"/>
          <p:nvPr/>
        </p:nvSpPr>
        <p:spPr>
          <a:xfrm>
            <a:off x="9147658" y="3154680"/>
            <a:ext cx="2194560" cy="54864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Fraud at scale</a:t>
            </a:r>
            <a:endParaRPr lang="en-US" sz="2000" dirty="0"/>
          </a:p>
        </p:txBody>
      </p:sp>
      <p:sp>
        <p:nvSpPr>
          <p:cNvPr id="27" name="branch 3 threats"/>
          <p:cNvSpPr txBox="1"/>
          <p:nvPr/>
        </p:nvSpPr>
        <p:spPr>
          <a:xfrm>
            <a:off x="8461858" y="3886200"/>
            <a:ext cx="2743200" cy="91440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2"/>
                </a:solidFill>
              </a:rPr>
              <a:t>Rings sharing a face, device or phone</a:t>
            </a:r>
            <a:endParaRPr lang="en-US" sz="1500" dirty="0"/>
          </a:p>
          <a:p>
            <a:pPr marL="177800" indent="-177800">
              <a:spcAft>
                <a:spcPts val="400"/>
              </a:spcAft>
              <a:buSzPct val="100000"/>
              <a:buChar char="•"/>
            </a:pPr>
            <a:r>
              <a:rPr lang="en-US" sz="1500" dirty="0">
                <a:solidFill>
                  <a:schemeClr val="tx2"/>
                </a:solidFill>
              </a:rPr>
              <a:t>One ID used at several banks</a:t>
            </a:r>
            <a:endParaRPr lang="en-US" sz="1500" dirty="0"/>
          </a:p>
        </p:txBody>
      </p:sp>
      <p:sp>
        <p:nvSpPr>
          <p:cNvPr id="28" name="branch 3 divider"/>
          <p:cNvSpPr/>
          <p:nvPr/>
        </p:nvSpPr>
        <p:spPr>
          <a:xfrm>
            <a:off x="8461858" y="4937760"/>
            <a:ext cx="2724912" cy="0"/>
          </a:xfrm>
          <a:prstGeom prst="line">
            <a:avLst/>
          </a:prstGeom>
          <a:noFill/>
          <a:ln w="12700">
            <a:solidFill>
              <a:srgbClr val="E3E4DF"/>
            </a:solidFill>
            <a:prstDash val="solid"/>
          </a:ln>
        </p:spPr>
      </p:sp>
      <p:sp>
        <p:nvSpPr>
          <p:cNvPr id="29" name="branch 3 label"/>
          <p:cNvSpPr txBox="1"/>
          <p:nvPr/>
        </p:nvSpPr>
        <p:spPr>
          <a:xfrm>
            <a:off x="8461858" y="5047488"/>
            <a:ext cx="2743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OUR ANSWER</a:t>
            </a:r>
            <a:endParaRPr lang="en-US" sz="1100" dirty="0"/>
          </a:p>
        </p:txBody>
      </p:sp>
      <p:sp>
        <p:nvSpPr>
          <p:cNvPr id="30" name="branch 3 answer"/>
          <p:cNvSpPr txBox="1"/>
          <p:nvPr/>
        </p:nvSpPr>
        <p:spPr>
          <a:xfrm>
            <a:off x="8461858" y="5349240"/>
            <a:ext cx="2743200" cy="640080"/>
          </a:xfrm>
          <a:prstGeom prst="rect">
            <a:avLst/>
          </a:prstGeom>
          <a:noFill/>
          <a:ln/>
        </p:spPr>
        <p:txBody>
          <a:bodyPr wrap="square" lIns="0" tIns="0" rIns="0" bIns="0" rtlCol="0" anchor="t"/>
          <a:lstStyle/>
          <a:p>
            <a:pPr indent="0" marL="0">
              <a:buNone/>
            </a:pPr>
            <a:r>
              <a:rPr lang="en-US" sz="1500" b="1" dirty="0">
                <a:solidFill>
                  <a:schemeClr val="tx1"/>
                </a:solidFill>
              </a:rPr>
              <a:t>Identity graph and a hashed bank network</a:t>
            </a:r>
            <a:endParaRPr lang="en-US" sz="15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3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8229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END-TO-END PIPELINE</a:t>
            </a:r>
            <a:endParaRPr lang="en-US" sz="1200" dirty="0"/>
          </a:p>
        </p:txBody>
      </p:sp>
      <p:sp>
        <p:nvSpPr>
          <p:cNvPr id="3" name="Text 1"/>
          <p:cNvSpPr/>
          <p:nvPr>
            <p:ph idx="102" type="title" hasCustomPrompt="1"/>
          </p:nvPr>
        </p:nvSpPr>
        <p:spPr>
          <a:xfrm>
            <a:off x="685800" y="804672"/>
            <a:ext cx="10817352" cy="731520"/>
          </a:xfrm>
          <a:prstGeom prst="rect">
            <a:avLst/>
          </a:prstGeom>
          <a:noFill/>
          <a:ln/>
        </p:spPr>
        <p:txBody>
          <a:bodyPr wrap="square" lIns="0" tIns="0" rIns="0" bIns="0" rtlCol="0" anchor="ctr"/>
          <a:lstStyle/>
          <a:p>
            <a:pPr algn="l" indent="0" marL="0">
              <a:buNone/>
            </a:pPr>
            <a:r>
              <a:rPr lang="en-US" sz="3200" b="1" dirty="0">
                <a:solidFill>
                  <a:schemeClr val="tx1"/>
                </a:solidFill>
              </a:rPr>
              <a:t>From upload to decision in one pass</a:t>
            </a:r>
            <a:endParaRPr lang="en-US" sz="3200" dirty="0"/>
          </a:p>
        </p:txBody>
      </p:sp>
      <p:sp>
        <p:nvSpPr>
          <p:cNvPr id="4" name="stage 1"/>
          <p:cNvSpPr/>
          <p:nvPr/>
        </p:nvSpPr>
        <p:spPr>
          <a:xfrm>
            <a:off x="685800" y="1783080"/>
            <a:ext cx="1871411" cy="4069080"/>
          </a:xfrm>
          <a:prstGeom prst="roundRect">
            <a:avLst>
              <a:gd name="adj" fmla="val 7329"/>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5" name="stage 1 number"/>
          <p:cNvSpPr txBox="1"/>
          <p:nvPr/>
        </p:nvSpPr>
        <p:spPr>
          <a:xfrm>
            <a:off x="914400" y="2011680"/>
            <a:ext cx="914400" cy="274320"/>
          </a:xfrm>
          <a:prstGeom prst="rect">
            <a:avLst/>
          </a:prstGeom>
          <a:noFill/>
          <a:ln/>
        </p:spPr>
        <p:txBody>
          <a:bodyPr wrap="square" lIns="0" tIns="0" rIns="0" bIns="0" rtlCol="0" anchor="ctr"/>
          <a:lstStyle/>
          <a:p>
            <a:pPr indent="0" marL="0">
              <a:buNone/>
            </a:pPr>
            <a:r>
              <a:rPr lang="en-US" sz="1200" b="1" dirty="0">
                <a:solidFill>
                  <a:schemeClr val="accent1"/>
                </a:solidFill>
              </a:rPr>
              <a:t>01</a:t>
            </a:r>
            <a:endParaRPr lang="en-US" sz="1200" dirty="0"/>
          </a:p>
        </p:txBody>
      </p:sp>
      <p:sp>
        <p:nvSpPr>
          <p:cNvPr id="6" name="stage 1 title"/>
          <p:cNvSpPr txBox="1"/>
          <p:nvPr/>
        </p:nvSpPr>
        <p:spPr>
          <a:xfrm>
            <a:off x="914400" y="2286000"/>
            <a:ext cx="1414211"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Capture</a:t>
            </a:r>
            <a:endParaRPr lang="en-US" sz="2200" dirty="0"/>
          </a:p>
        </p:txBody>
      </p:sp>
      <p:sp>
        <p:nvSpPr>
          <p:cNvPr id="7" name="stage 1 steps"/>
          <p:cNvSpPr txBox="1"/>
          <p:nvPr/>
        </p:nvSpPr>
        <p:spPr>
          <a:xfrm>
            <a:off x="914400" y="2880360"/>
            <a:ext cx="1505651" cy="27432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Form and typing rhythm</a:t>
            </a:r>
            <a:endParaRPr lang="en-US" sz="1400" dirty="0"/>
          </a:p>
          <a:p>
            <a:pPr marL="177800" indent="-177800">
              <a:spcAft>
                <a:spcPts val="800"/>
              </a:spcAft>
              <a:buSzPct val="100000"/>
              <a:buChar char="•"/>
            </a:pPr>
            <a:r>
              <a:rPr lang="en-US" sz="1400" dirty="0">
                <a:solidFill>
                  <a:schemeClr val="tx2"/>
                </a:solidFill>
              </a:rPr>
              <a:t>ID card photo</a:t>
            </a:r>
            <a:endParaRPr lang="en-US" sz="1400" dirty="0"/>
          </a:p>
          <a:p>
            <a:pPr marL="177800" indent="-177800">
              <a:spcAft>
                <a:spcPts val="800"/>
              </a:spcAft>
              <a:buSzPct val="100000"/>
              <a:buChar char="•"/>
            </a:pPr>
            <a:r>
              <a:rPr lang="en-US" sz="1400" dirty="0">
                <a:solidFill>
                  <a:schemeClr val="tx2"/>
                </a:solidFill>
              </a:rPr>
              <a:t>Selfie and head-turn video burst</a:t>
            </a:r>
            <a:endParaRPr lang="en-US" sz="1400" dirty="0"/>
          </a:p>
          <a:p>
            <a:pPr marL="177800" indent="-177800">
              <a:spcAft>
                <a:spcPts val="800"/>
              </a:spcAft>
              <a:buSzPct val="100000"/>
              <a:buChar char="•"/>
            </a:pPr>
            <a:r>
              <a:rPr lang="en-US" sz="1400" dirty="0">
                <a:solidFill>
                  <a:schemeClr val="tx2"/>
                </a:solidFill>
              </a:rPr>
              <a:t>Consent and geo-tag</a:t>
            </a:r>
            <a:endParaRPr lang="en-US" sz="1400" dirty="0"/>
          </a:p>
        </p:txBody>
      </p:sp>
      <p:sp>
        <p:nvSpPr>
          <p:cNvPr id="8" name="arrow 1"/>
          <p:cNvSpPr/>
          <p:nvPr/>
        </p:nvSpPr>
        <p:spPr>
          <a:xfrm>
            <a:off x="2621219" y="3689604"/>
            <a:ext cx="237744" cy="256032"/>
          </a:xfrm>
          <a:prstGeom prst="rightArrow">
            <a:avLst/>
          </a:prstGeom>
          <a:solidFill>
            <a:srgbClr val="8A8F99"/>
          </a:solidFill>
          <a:ln/>
        </p:spPr>
      </p:sp>
      <p:sp>
        <p:nvSpPr>
          <p:cNvPr id="9" name="stage 2"/>
          <p:cNvSpPr/>
          <p:nvPr/>
        </p:nvSpPr>
        <p:spPr>
          <a:xfrm>
            <a:off x="2922971" y="1783080"/>
            <a:ext cx="1871411" cy="4069080"/>
          </a:xfrm>
          <a:prstGeom prst="roundRect">
            <a:avLst>
              <a:gd name="adj" fmla="val 7329"/>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10" name="stage 2 number"/>
          <p:cNvSpPr txBox="1"/>
          <p:nvPr/>
        </p:nvSpPr>
        <p:spPr>
          <a:xfrm>
            <a:off x="3151571" y="2011680"/>
            <a:ext cx="914400" cy="274320"/>
          </a:xfrm>
          <a:prstGeom prst="rect">
            <a:avLst/>
          </a:prstGeom>
          <a:noFill/>
          <a:ln/>
        </p:spPr>
        <p:txBody>
          <a:bodyPr wrap="square" lIns="0" tIns="0" rIns="0" bIns="0" rtlCol="0" anchor="ctr"/>
          <a:lstStyle/>
          <a:p>
            <a:pPr indent="0" marL="0">
              <a:buNone/>
            </a:pPr>
            <a:r>
              <a:rPr lang="en-US" sz="1200" b="1" dirty="0">
                <a:solidFill>
                  <a:schemeClr val="accent1"/>
                </a:solidFill>
              </a:rPr>
              <a:t>02</a:t>
            </a:r>
            <a:endParaRPr lang="en-US" sz="1200" dirty="0"/>
          </a:p>
        </p:txBody>
      </p:sp>
      <p:sp>
        <p:nvSpPr>
          <p:cNvPr id="11" name="stage 2 title"/>
          <p:cNvSpPr txBox="1"/>
          <p:nvPr/>
        </p:nvSpPr>
        <p:spPr>
          <a:xfrm>
            <a:off x="3151571" y="2286000"/>
            <a:ext cx="1414211"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Check</a:t>
            </a:r>
            <a:endParaRPr lang="en-US" sz="2200" dirty="0"/>
          </a:p>
        </p:txBody>
      </p:sp>
      <p:sp>
        <p:nvSpPr>
          <p:cNvPr id="12" name="arrow 2"/>
          <p:cNvSpPr/>
          <p:nvPr/>
        </p:nvSpPr>
        <p:spPr>
          <a:xfrm>
            <a:off x="4858390" y="3689604"/>
            <a:ext cx="237744" cy="256032"/>
          </a:xfrm>
          <a:prstGeom prst="rightArrow">
            <a:avLst/>
          </a:prstGeom>
          <a:solidFill>
            <a:srgbClr val="8A8F99"/>
          </a:solidFill>
          <a:ln/>
        </p:spPr>
      </p:sp>
      <p:sp>
        <p:nvSpPr>
          <p:cNvPr id="13" name="stage 3"/>
          <p:cNvSpPr/>
          <p:nvPr/>
        </p:nvSpPr>
        <p:spPr>
          <a:xfrm>
            <a:off x="5160142" y="1783080"/>
            <a:ext cx="1871411" cy="4069080"/>
          </a:xfrm>
          <a:prstGeom prst="roundRect">
            <a:avLst>
              <a:gd name="adj" fmla="val 7329"/>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14" name="stage 3 number"/>
          <p:cNvSpPr txBox="1"/>
          <p:nvPr/>
        </p:nvSpPr>
        <p:spPr>
          <a:xfrm>
            <a:off x="5388742" y="2011680"/>
            <a:ext cx="914400" cy="274320"/>
          </a:xfrm>
          <a:prstGeom prst="rect">
            <a:avLst/>
          </a:prstGeom>
          <a:noFill/>
          <a:ln/>
        </p:spPr>
        <p:txBody>
          <a:bodyPr wrap="square" lIns="0" tIns="0" rIns="0" bIns="0" rtlCol="0" anchor="ctr"/>
          <a:lstStyle/>
          <a:p>
            <a:pPr indent="0" marL="0">
              <a:buNone/>
            </a:pPr>
            <a:r>
              <a:rPr lang="en-US" sz="1200" b="1" dirty="0">
                <a:solidFill>
                  <a:schemeClr val="accent1"/>
                </a:solidFill>
              </a:rPr>
              <a:t>03</a:t>
            </a:r>
            <a:endParaRPr lang="en-US" sz="1200" dirty="0"/>
          </a:p>
        </p:txBody>
      </p:sp>
      <p:sp>
        <p:nvSpPr>
          <p:cNvPr id="15" name="stage 3 title"/>
          <p:cNvSpPr txBox="1"/>
          <p:nvPr/>
        </p:nvSpPr>
        <p:spPr>
          <a:xfrm>
            <a:off x="5388742" y="2286000"/>
            <a:ext cx="1414211"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Fuse</a:t>
            </a:r>
            <a:endParaRPr lang="en-US" sz="2200" dirty="0"/>
          </a:p>
        </p:txBody>
      </p:sp>
      <p:sp>
        <p:nvSpPr>
          <p:cNvPr id="16" name="stage 3 steps"/>
          <p:cNvSpPr txBox="1"/>
          <p:nvPr/>
        </p:nvSpPr>
        <p:spPr>
          <a:xfrm>
            <a:off x="5388742" y="2880360"/>
            <a:ext cx="1505651" cy="27432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A model ranks the risk</a:t>
            </a:r>
            <a:endParaRPr lang="en-US" sz="1400" dirty="0"/>
          </a:p>
          <a:p>
            <a:pPr marL="177800" indent="-177800">
              <a:spcAft>
                <a:spcPts val="800"/>
              </a:spcAft>
              <a:buSzPct val="100000"/>
              <a:buChar char="•"/>
            </a:pPr>
            <a:r>
              <a:rPr lang="en-US" sz="1400" dirty="0">
                <a:solidFill>
                  <a:schemeClr val="tx2"/>
                </a:solidFill>
              </a:rPr>
              <a:t>SHAP shows why</a:t>
            </a:r>
            <a:endParaRPr lang="en-US" sz="1400" dirty="0"/>
          </a:p>
          <a:p>
            <a:pPr marL="177800" indent="-177800">
              <a:spcAft>
                <a:spcPts val="800"/>
              </a:spcAft>
              <a:buSzPct val="100000"/>
              <a:buChar char="•"/>
            </a:pPr>
            <a:r>
              <a:rPr lang="en-US" sz="1400" dirty="0">
                <a:solidFill>
                  <a:schemeClr val="tx2"/>
                </a:solidFill>
              </a:rPr>
              <a:t>A genuine-only profile flags unseen fraud</a:t>
            </a:r>
            <a:endParaRPr lang="en-US" sz="1400" dirty="0"/>
          </a:p>
        </p:txBody>
      </p:sp>
      <p:sp>
        <p:nvSpPr>
          <p:cNvPr id="17" name="arrow 3"/>
          <p:cNvSpPr/>
          <p:nvPr/>
        </p:nvSpPr>
        <p:spPr>
          <a:xfrm>
            <a:off x="7095561" y="3689604"/>
            <a:ext cx="237744" cy="256032"/>
          </a:xfrm>
          <a:prstGeom prst="rightArrow">
            <a:avLst/>
          </a:prstGeom>
          <a:solidFill>
            <a:srgbClr val="8A8F99"/>
          </a:solidFill>
          <a:ln/>
        </p:spPr>
      </p:sp>
      <p:sp>
        <p:nvSpPr>
          <p:cNvPr id="18" name="stage 4"/>
          <p:cNvSpPr/>
          <p:nvPr/>
        </p:nvSpPr>
        <p:spPr>
          <a:xfrm>
            <a:off x="7397313" y="1783080"/>
            <a:ext cx="1871411" cy="4069080"/>
          </a:xfrm>
          <a:prstGeom prst="roundRect">
            <a:avLst>
              <a:gd name="adj" fmla="val 7329"/>
            </a:avLst>
          </a:prstGeom>
          <a:solidFill>
            <a:schemeClr val="tx1"/>
          </a:solidFill>
          <a:ln/>
          <a:effectLst>
            <a:outerShdw sx="100000" sy="100000" kx="0" ky="0" algn="bl" rotWithShape="0" blurRad="101600" dist="25400" dir="5400000">
              <a:srgbClr val="14161A">
                <a:alpha val="8000"/>
              </a:srgbClr>
            </a:outerShdw>
          </a:effectLst>
        </p:spPr>
      </p:sp>
      <p:sp>
        <p:nvSpPr>
          <p:cNvPr id="19" name="stage 4 number"/>
          <p:cNvSpPr txBox="1"/>
          <p:nvPr/>
        </p:nvSpPr>
        <p:spPr>
          <a:xfrm>
            <a:off x="7625913" y="2011680"/>
            <a:ext cx="914400" cy="274320"/>
          </a:xfrm>
          <a:prstGeom prst="rect">
            <a:avLst/>
          </a:prstGeom>
          <a:noFill/>
          <a:ln/>
        </p:spPr>
        <p:txBody>
          <a:bodyPr wrap="square" lIns="0" tIns="0" rIns="0" bIns="0" rtlCol="0" anchor="ctr"/>
          <a:lstStyle/>
          <a:p>
            <a:pPr indent="0" marL="0">
              <a:buNone/>
            </a:pPr>
            <a:r>
              <a:rPr lang="en-US" sz="1200" b="1" dirty="0">
                <a:solidFill>
                  <a:schemeClr val="accent5"/>
                </a:solidFill>
              </a:rPr>
              <a:t>04</a:t>
            </a:r>
            <a:endParaRPr lang="en-US" sz="1200" dirty="0"/>
          </a:p>
        </p:txBody>
      </p:sp>
      <p:sp>
        <p:nvSpPr>
          <p:cNvPr id="20" name="stage 4 title"/>
          <p:cNvSpPr txBox="1"/>
          <p:nvPr/>
        </p:nvSpPr>
        <p:spPr>
          <a:xfrm>
            <a:off x="7625913" y="2286000"/>
            <a:ext cx="1414211" cy="45720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Decide</a:t>
            </a:r>
            <a:endParaRPr lang="en-US" sz="2200" dirty="0"/>
          </a:p>
        </p:txBody>
      </p:sp>
      <p:sp>
        <p:nvSpPr>
          <p:cNvPr id="21" name="arrow 4"/>
          <p:cNvSpPr/>
          <p:nvPr/>
        </p:nvSpPr>
        <p:spPr>
          <a:xfrm>
            <a:off x="9332732" y="3689604"/>
            <a:ext cx="237744" cy="256032"/>
          </a:xfrm>
          <a:prstGeom prst="rightArrow">
            <a:avLst/>
          </a:prstGeom>
          <a:solidFill>
            <a:srgbClr val="8A8F99"/>
          </a:solidFill>
          <a:ln/>
        </p:spPr>
      </p:sp>
      <p:sp>
        <p:nvSpPr>
          <p:cNvPr id="22" name="stage 5"/>
          <p:cNvSpPr/>
          <p:nvPr/>
        </p:nvSpPr>
        <p:spPr>
          <a:xfrm>
            <a:off x="9634484" y="1783080"/>
            <a:ext cx="1871411" cy="4069080"/>
          </a:xfrm>
          <a:prstGeom prst="roundRect">
            <a:avLst>
              <a:gd name="adj" fmla="val 7329"/>
            </a:avLst>
          </a:prstGeom>
          <a:solidFill>
            <a:schemeClr val="bg1"/>
          </a:solidFill>
          <a:ln w="12700">
            <a:solidFill>
              <a:srgbClr val="E3E4DF"/>
            </a:solidFill>
            <a:prstDash val="solid"/>
          </a:ln>
          <a:effectLst>
            <a:outerShdw sx="100000" sy="100000" kx="0" ky="0" algn="bl" rotWithShape="0" blurRad="101600" dist="25400" dir="5400000">
              <a:srgbClr val="14161A">
                <a:alpha val="8000"/>
              </a:srgbClr>
            </a:outerShdw>
          </a:effectLst>
        </p:spPr>
      </p:sp>
      <p:sp>
        <p:nvSpPr>
          <p:cNvPr id="23" name="stage 5 number"/>
          <p:cNvSpPr txBox="1"/>
          <p:nvPr/>
        </p:nvSpPr>
        <p:spPr>
          <a:xfrm>
            <a:off x="9863084" y="2011680"/>
            <a:ext cx="914400" cy="274320"/>
          </a:xfrm>
          <a:prstGeom prst="rect">
            <a:avLst/>
          </a:prstGeom>
          <a:noFill/>
          <a:ln/>
        </p:spPr>
        <p:txBody>
          <a:bodyPr wrap="square" lIns="0" tIns="0" rIns="0" bIns="0" rtlCol="0" anchor="ctr"/>
          <a:lstStyle/>
          <a:p>
            <a:pPr indent="0" marL="0">
              <a:buNone/>
            </a:pPr>
            <a:r>
              <a:rPr lang="en-US" sz="1200" b="1" dirty="0">
                <a:solidFill>
                  <a:schemeClr val="accent1"/>
                </a:solidFill>
              </a:rPr>
              <a:t>05</a:t>
            </a:r>
            <a:endParaRPr lang="en-US" sz="1200" dirty="0"/>
          </a:p>
        </p:txBody>
      </p:sp>
      <p:sp>
        <p:nvSpPr>
          <p:cNvPr id="24" name="stage 5 title"/>
          <p:cNvSpPr txBox="1"/>
          <p:nvPr/>
        </p:nvSpPr>
        <p:spPr>
          <a:xfrm>
            <a:off x="9863084" y="2286000"/>
            <a:ext cx="1414211" cy="45720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Explain</a:t>
            </a:r>
            <a:endParaRPr lang="en-US" sz="2200" dirty="0"/>
          </a:p>
        </p:txBody>
      </p:sp>
      <p:sp>
        <p:nvSpPr>
          <p:cNvPr id="25" name="stage 5 steps"/>
          <p:cNvSpPr txBox="1"/>
          <p:nvPr/>
        </p:nvSpPr>
        <p:spPr>
          <a:xfrm>
            <a:off x="9863084" y="2880360"/>
            <a:ext cx="1505651" cy="27432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2"/>
                </a:solidFill>
              </a:rPr>
              <a:t>Analyst console and audit trail</a:t>
            </a:r>
            <a:endParaRPr lang="en-US" sz="1400" dirty="0"/>
          </a:p>
          <a:p>
            <a:pPr marL="177800" indent="-177800">
              <a:spcAft>
                <a:spcPts val="800"/>
              </a:spcAft>
              <a:buSzPct val="100000"/>
              <a:buChar char="•"/>
            </a:pPr>
            <a:r>
              <a:rPr lang="en-US" sz="1400" dirty="0">
                <a:solidFill>
                  <a:schemeClr val="tx2"/>
                </a:solidFill>
              </a:rPr>
              <a:t>Ask TrueID answers from data</a:t>
            </a:r>
            <a:endParaRPr lang="en-US" sz="1400" dirty="0"/>
          </a:p>
          <a:p>
            <a:pPr marL="177800" indent="-177800">
              <a:spcAft>
                <a:spcPts val="800"/>
              </a:spcAft>
              <a:buSzPct val="100000"/>
              <a:buChar char="•"/>
            </a:pPr>
            <a:r>
              <a:rPr lang="en-US" sz="1400" dirty="0">
                <a:solidFill>
                  <a:schemeClr val="tx2"/>
                </a:solidFill>
              </a:rPr>
              <a:t>Learning loop proposes, analyst approves</a:t>
            </a:r>
            <a:endParaRPr lang="en-US" sz="1400" dirty="0"/>
          </a:p>
          <a:p>
            <a:pPr marL="177800" indent="-177800">
              <a:spcAft>
                <a:spcPts val="800"/>
              </a:spcAft>
              <a:buSzPct val="100000"/>
              <a:buChar char="•"/>
            </a:pPr>
            <a:r>
              <a:rPr lang="en-US" sz="1400" dirty="0">
                <a:solidFill>
                  <a:schemeClr val="tx2"/>
                </a:solidFill>
              </a:rPr>
              <a:t>Applicant gets fixable tips</a:t>
            </a:r>
            <a:endParaRPr lang="en-US" sz="1400" dirty="0"/>
          </a:p>
        </p:txBody>
      </p:sp>
      <p:sp>
        <p:nvSpPr>
          <p:cNvPr id="26" name="check 1"/>
          <p:cNvSpPr txBox="1"/>
          <p:nvPr/>
        </p:nvSpPr>
        <p:spPr>
          <a:xfrm>
            <a:off x="3151571" y="2880360"/>
            <a:ext cx="1414211" cy="329184"/>
          </a:xfrm>
          <a:prstGeom prst="roundRect">
            <a:avLst>
              <a:gd name="adj" fmla="val 22222"/>
            </a:avLst>
          </a:prstGeom>
          <a:solidFill>
            <a:srgbClr val="ECEEFF"/>
          </a:solidFill>
          <a:ln/>
        </p:spPr>
        <p:txBody>
          <a:bodyPr wrap="square" lIns="63500" tIns="63500" rIns="63500" bIns="63500" rtlCol="0" anchor="ctr"/>
          <a:lstStyle/>
          <a:p>
            <a:pPr indent="0" marL="0">
              <a:buNone/>
            </a:pPr>
            <a:r>
              <a:rPr lang="en-US" sz="1400" dirty="0">
                <a:solidFill>
                  <a:schemeClr val="tx1"/>
                </a:solidFill>
              </a:rPr>
              <a:t>Document</a:t>
            </a:r>
            <a:endParaRPr lang="en-US" sz="1400" dirty="0"/>
          </a:p>
        </p:txBody>
      </p:sp>
      <p:sp>
        <p:nvSpPr>
          <p:cNvPr id="27" name="check 2"/>
          <p:cNvSpPr txBox="1"/>
          <p:nvPr/>
        </p:nvSpPr>
        <p:spPr>
          <a:xfrm>
            <a:off x="3151571" y="3282696"/>
            <a:ext cx="1414211" cy="329184"/>
          </a:xfrm>
          <a:prstGeom prst="roundRect">
            <a:avLst>
              <a:gd name="adj" fmla="val 22222"/>
            </a:avLst>
          </a:prstGeom>
          <a:solidFill>
            <a:srgbClr val="ECEEFF"/>
          </a:solidFill>
          <a:ln/>
        </p:spPr>
        <p:txBody>
          <a:bodyPr wrap="square" lIns="63500" tIns="63500" rIns="63500" bIns="63500" rtlCol="0" anchor="ctr"/>
          <a:lstStyle/>
          <a:p>
            <a:pPr indent="0" marL="0">
              <a:buNone/>
            </a:pPr>
            <a:r>
              <a:rPr lang="en-US" sz="1400" dirty="0">
                <a:solidFill>
                  <a:schemeClr val="tx1"/>
                </a:solidFill>
              </a:rPr>
              <a:t>Face, liveness</a:t>
            </a:r>
            <a:endParaRPr lang="en-US" sz="1400" dirty="0"/>
          </a:p>
        </p:txBody>
      </p:sp>
      <p:sp>
        <p:nvSpPr>
          <p:cNvPr id="28" name="check 3"/>
          <p:cNvSpPr txBox="1"/>
          <p:nvPr/>
        </p:nvSpPr>
        <p:spPr>
          <a:xfrm>
            <a:off x="3151571" y="3685032"/>
            <a:ext cx="1414211" cy="329184"/>
          </a:xfrm>
          <a:prstGeom prst="roundRect">
            <a:avLst>
              <a:gd name="adj" fmla="val 22222"/>
            </a:avLst>
          </a:prstGeom>
          <a:solidFill>
            <a:srgbClr val="ECEEFF"/>
          </a:solidFill>
          <a:ln/>
        </p:spPr>
        <p:txBody>
          <a:bodyPr wrap="square" lIns="63500" tIns="63500" rIns="63500" bIns="63500" rtlCol="0" anchor="ctr"/>
          <a:lstStyle/>
          <a:p>
            <a:pPr indent="0" marL="0">
              <a:buNone/>
            </a:pPr>
            <a:r>
              <a:rPr lang="en-US" sz="1400" dirty="0">
                <a:solidFill>
                  <a:schemeClr val="tx1"/>
                </a:solidFill>
              </a:rPr>
              <a:t>Behaviour</a:t>
            </a:r>
            <a:endParaRPr lang="en-US" sz="1400" dirty="0"/>
          </a:p>
        </p:txBody>
      </p:sp>
      <p:sp>
        <p:nvSpPr>
          <p:cNvPr id="29" name="check 4"/>
          <p:cNvSpPr txBox="1"/>
          <p:nvPr/>
        </p:nvSpPr>
        <p:spPr>
          <a:xfrm>
            <a:off x="3151571" y="4087368"/>
            <a:ext cx="1414211" cy="329184"/>
          </a:xfrm>
          <a:prstGeom prst="roundRect">
            <a:avLst>
              <a:gd name="adj" fmla="val 22222"/>
            </a:avLst>
          </a:prstGeom>
          <a:solidFill>
            <a:srgbClr val="ECEEFF"/>
          </a:solidFill>
          <a:ln/>
        </p:spPr>
        <p:txBody>
          <a:bodyPr wrap="square" lIns="63500" tIns="63500" rIns="63500" bIns="63500" rtlCol="0" anchor="ctr"/>
          <a:lstStyle/>
          <a:p>
            <a:pPr indent="0" marL="0">
              <a:buNone/>
            </a:pPr>
            <a:r>
              <a:rPr lang="en-US" sz="1400" dirty="0">
                <a:solidFill>
                  <a:schemeClr val="tx1"/>
                </a:solidFill>
              </a:rPr>
              <a:t>Registries</a:t>
            </a:r>
            <a:endParaRPr lang="en-US" sz="1400" dirty="0"/>
          </a:p>
        </p:txBody>
      </p:sp>
      <p:sp>
        <p:nvSpPr>
          <p:cNvPr id="30" name="check 5"/>
          <p:cNvSpPr txBox="1"/>
          <p:nvPr/>
        </p:nvSpPr>
        <p:spPr>
          <a:xfrm>
            <a:off x="3151571" y="4489704"/>
            <a:ext cx="1414211" cy="329184"/>
          </a:xfrm>
          <a:prstGeom prst="roundRect">
            <a:avLst>
              <a:gd name="adj" fmla="val 22222"/>
            </a:avLst>
          </a:prstGeom>
          <a:solidFill>
            <a:srgbClr val="ECEEFF"/>
          </a:solidFill>
          <a:ln/>
        </p:spPr>
        <p:txBody>
          <a:bodyPr wrap="square" lIns="63500" tIns="63500" rIns="63500" bIns="63500" rtlCol="0" anchor="ctr"/>
          <a:lstStyle/>
          <a:p>
            <a:pPr indent="0" marL="0">
              <a:buNone/>
            </a:pPr>
            <a:r>
              <a:rPr lang="en-US" sz="1400" dirty="0">
                <a:solidFill>
                  <a:schemeClr val="tx1"/>
                </a:solidFill>
              </a:rPr>
              <a:t>Identity graph</a:t>
            </a:r>
            <a:endParaRPr lang="en-US" sz="1400" dirty="0"/>
          </a:p>
        </p:txBody>
      </p:sp>
      <p:sp>
        <p:nvSpPr>
          <p:cNvPr id="31" name="check 6"/>
          <p:cNvSpPr txBox="1"/>
          <p:nvPr/>
        </p:nvSpPr>
        <p:spPr>
          <a:xfrm>
            <a:off x="3151571" y="4892040"/>
            <a:ext cx="1414211" cy="329184"/>
          </a:xfrm>
          <a:prstGeom prst="roundRect">
            <a:avLst>
              <a:gd name="adj" fmla="val 22222"/>
            </a:avLst>
          </a:prstGeom>
          <a:solidFill>
            <a:srgbClr val="ECEEFF"/>
          </a:solidFill>
          <a:ln/>
        </p:spPr>
        <p:txBody>
          <a:bodyPr wrap="square" lIns="63500" tIns="63500" rIns="63500" bIns="63500" rtlCol="0" anchor="ctr"/>
          <a:lstStyle/>
          <a:p>
            <a:pPr indent="0" marL="0">
              <a:buNone/>
            </a:pPr>
            <a:r>
              <a:rPr lang="en-US" sz="1400" dirty="0">
                <a:solidFill>
                  <a:schemeClr val="tx1"/>
                </a:solidFill>
              </a:rPr>
              <a:t>Bank network</a:t>
            </a:r>
            <a:endParaRPr lang="en-US" sz="1400" dirty="0"/>
          </a:p>
        </p:txBody>
      </p:sp>
      <p:sp>
        <p:nvSpPr>
          <p:cNvPr id="32" name="check 7"/>
          <p:cNvSpPr txBox="1"/>
          <p:nvPr/>
        </p:nvSpPr>
        <p:spPr>
          <a:xfrm>
            <a:off x="3151571" y="5294376"/>
            <a:ext cx="1414211" cy="329184"/>
          </a:xfrm>
          <a:prstGeom prst="roundRect">
            <a:avLst>
              <a:gd name="adj" fmla="val 22222"/>
            </a:avLst>
          </a:prstGeom>
          <a:solidFill>
            <a:srgbClr val="ECEEFF"/>
          </a:solidFill>
          <a:ln/>
        </p:spPr>
        <p:txBody>
          <a:bodyPr wrap="square" lIns="63500" tIns="63500" rIns="63500" bIns="63500" rtlCol="0" anchor="ctr"/>
          <a:lstStyle/>
          <a:p>
            <a:pPr indent="0" marL="0">
              <a:buNone/>
            </a:pPr>
            <a:r>
              <a:rPr lang="en-US" sz="1400" dirty="0">
                <a:solidFill>
                  <a:schemeClr val="tx1"/>
                </a:solidFill>
              </a:rPr>
              <a:t>Footprint, opt-in</a:t>
            </a:r>
            <a:endParaRPr lang="en-US" sz="1400" dirty="0"/>
          </a:p>
        </p:txBody>
      </p:sp>
      <p:sp>
        <p:nvSpPr>
          <p:cNvPr id="33" name="decide rule"/>
          <p:cNvSpPr txBox="1"/>
          <p:nvPr/>
        </p:nvSpPr>
        <p:spPr>
          <a:xfrm>
            <a:off x="7625913" y="2880360"/>
            <a:ext cx="1459931" cy="685800"/>
          </a:xfrm>
          <a:prstGeom prst="rect">
            <a:avLst/>
          </a:prstGeom>
          <a:noFill/>
          <a:ln/>
        </p:spPr>
        <p:txBody>
          <a:bodyPr wrap="square" lIns="0" tIns="0" rIns="0" bIns="0" rtlCol="0" anchor="t"/>
          <a:lstStyle/>
          <a:p>
            <a:pPr indent="0" marL="0">
              <a:buNone/>
            </a:pPr>
            <a:r>
              <a:rPr lang="en-US" sz="1400" dirty="0">
                <a:solidFill>
                  <a:srgbClr val="C9CCD3"/>
                </a:solidFill>
              </a:rPr>
              <a:t>All 13 required checks must pass</a:t>
            </a:r>
            <a:endParaRPr lang="en-US" sz="1400" dirty="0"/>
          </a:p>
        </p:txBody>
      </p:sp>
      <p:sp>
        <p:nvSpPr>
          <p:cNvPr id="34" name="band Approve"/>
          <p:cNvSpPr txBox="1"/>
          <p:nvPr/>
        </p:nvSpPr>
        <p:spPr>
          <a:xfrm>
            <a:off x="7625913" y="3703320"/>
            <a:ext cx="1414211" cy="384048"/>
          </a:xfrm>
          <a:prstGeom prst="roundRect">
            <a:avLst>
              <a:gd name="adj" fmla="val 19048"/>
            </a:avLst>
          </a:prstGeom>
          <a:solidFill>
            <a:srgbClr val="7FD6AC"/>
          </a:solidFill>
          <a:ln/>
        </p:spPr>
        <p:txBody>
          <a:bodyPr wrap="square" lIns="63500" tIns="63500" rIns="63500" bIns="63500" rtlCol="0" anchor="ctr"/>
          <a:lstStyle/>
          <a:p>
            <a:pPr indent="0" marL="0">
              <a:buNone/>
            </a:pPr>
            <a:r>
              <a:rPr lang="en-US" sz="1400" b="1" dirty="0">
                <a:solidFill>
                  <a:schemeClr val="tx1"/>
                </a:solidFill>
              </a:rPr>
              <a:t>Approve</a:t>
            </a:r>
            <a:endParaRPr lang="en-US" sz="1400" dirty="0"/>
          </a:p>
        </p:txBody>
      </p:sp>
      <p:sp>
        <p:nvSpPr>
          <p:cNvPr id="35" name="band Review"/>
          <p:cNvSpPr txBox="1"/>
          <p:nvPr/>
        </p:nvSpPr>
        <p:spPr>
          <a:xfrm>
            <a:off x="7625913" y="4206240"/>
            <a:ext cx="1414211" cy="384048"/>
          </a:xfrm>
          <a:prstGeom prst="roundRect">
            <a:avLst>
              <a:gd name="adj" fmla="val 19048"/>
            </a:avLst>
          </a:prstGeom>
          <a:solidFill>
            <a:srgbClr val="F2C27A"/>
          </a:solidFill>
          <a:ln/>
        </p:spPr>
        <p:txBody>
          <a:bodyPr wrap="square" lIns="63500" tIns="63500" rIns="63500" bIns="63500" rtlCol="0" anchor="ctr"/>
          <a:lstStyle/>
          <a:p>
            <a:pPr indent="0" marL="0">
              <a:buNone/>
            </a:pPr>
            <a:r>
              <a:rPr lang="en-US" sz="1400" b="1" dirty="0">
                <a:solidFill>
                  <a:schemeClr val="tx1"/>
                </a:solidFill>
              </a:rPr>
              <a:t>Review</a:t>
            </a:r>
            <a:endParaRPr lang="en-US" sz="1400" dirty="0"/>
          </a:p>
        </p:txBody>
      </p:sp>
      <p:sp>
        <p:nvSpPr>
          <p:cNvPr id="36" name="band Reject"/>
          <p:cNvSpPr txBox="1"/>
          <p:nvPr/>
        </p:nvSpPr>
        <p:spPr>
          <a:xfrm>
            <a:off x="7625913" y="4709160"/>
            <a:ext cx="1414211" cy="384048"/>
          </a:xfrm>
          <a:prstGeom prst="roundRect">
            <a:avLst>
              <a:gd name="adj" fmla="val 19048"/>
            </a:avLst>
          </a:prstGeom>
          <a:solidFill>
            <a:srgbClr val="F29A85"/>
          </a:solidFill>
          <a:ln/>
        </p:spPr>
        <p:txBody>
          <a:bodyPr wrap="square" lIns="63500" tIns="63500" rIns="63500" bIns="63500" rtlCol="0" anchor="ctr"/>
          <a:lstStyle/>
          <a:p>
            <a:pPr indent="0" marL="0">
              <a:buNone/>
            </a:pPr>
            <a:r>
              <a:rPr lang="en-US" sz="1400" b="1" dirty="0">
                <a:solidFill>
                  <a:schemeClr val="tx1"/>
                </a:solidFill>
              </a:rPr>
              <a:t>Reject</a:t>
            </a:r>
            <a:endParaRPr lang="en-US" sz="1400" dirty="0"/>
          </a:p>
        </p:txBody>
      </p:sp>
      <p:sp>
        <p:nvSpPr>
          <p:cNvPr id="37" name="partner note"/>
          <p:cNvSpPr txBox="1"/>
          <p:nvPr/>
        </p:nvSpPr>
        <p:spPr>
          <a:xfrm>
            <a:off x="685800" y="5943600"/>
            <a:ext cx="10058400" cy="320040"/>
          </a:xfrm>
          <a:prstGeom prst="rect">
            <a:avLst/>
          </a:prstGeom>
          <a:noFill/>
          <a:ln/>
        </p:spPr>
        <p:txBody>
          <a:bodyPr wrap="square" lIns="0" tIns="0" rIns="0" bIns="0" rtlCol="0" anchor="ctr"/>
          <a:lstStyle/>
          <a:p>
            <a:pPr indent="0" marL="0">
              <a:buNone/>
            </a:pPr>
            <a:r>
              <a:rPr lang="en-US" sz="1400" dirty="0">
                <a:solidFill>
                  <a:schemeClr val="tx2"/>
                </a:solidFill>
              </a:rPr>
              <a:t>Partner banks keep their own KYC journey and call the same pipeline through a keyed API.</a:t>
            </a:r>
            <a:endParaRPr lang="en-US" sz="14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3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8229600" cy="320040"/>
          </a:xfrm>
          <a:prstGeom prst="rect">
            <a:avLst/>
          </a:prstGeom>
          <a:noFill/>
          <a:ln/>
        </p:spPr>
        <p:txBody>
          <a:bodyPr wrap="square" lIns="0" tIns="0" rIns="0" bIns="0" rtlCol="0" anchor="ctr"/>
          <a:lstStyle/>
          <a:p>
            <a:pPr indent="0" marL="0">
              <a:buNone/>
            </a:pPr>
            <a:r>
              <a:rPr lang="en-US" sz="1200" b="1" spc="300" kern="0" dirty="0">
                <a:solidFill>
                  <a:schemeClr val="accent5"/>
                </a:solidFill>
              </a:rPr>
              <a:t>WHAT’S NEW</a:t>
            </a:r>
            <a:endParaRPr lang="en-US" sz="1200" dirty="0"/>
          </a:p>
        </p:txBody>
      </p:sp>
      <p:sp>
        <p:nvSpPr>
          <p:cNvPr id="3" name="Text 1"/>
          <p:cNvSpPr/>
          <p:nvPr>
            <p:ph idx="102" type="title" hasCustomPrompt="1"/>
          </p:nvPr>
        </p:nvSpPr>
        <p:spPr>
          <a:xfrm>
            <a:off x="685800" y="804672"/>
            <a:ext cx="10817352" cy="731520"/>
          </a:xfrm>
          <a:prstGeom prst="rect">
            <a:avLst/>
          </a:prstGeom>
          <a:noFill/>
          <a:ln/>
        </p:spPr>
        <p:txBody>
          <a:bodyPr wrap="square" lIns="0" tIns="0" rIns="0" bIns="0" rtlCol="0" anchor="ctr"/>
          <a:lstStyle/>
          <a:p>
            <a:pPr algn="l" indent="0" marL="0">
              <a:buNone/>
            </a:pPr>
            <a:r>
              <a:rPr lang="en-US" sz="3200" b="1" dirty="0">
                <a:solidFill>
                  <a:schemeClr val="bg1"/>
                </a:solidFill>
              </a:rPr>
              <a:t>What makes TrueID different</a:t>
            </a:r>
            <a:endParaRPr lang="en-US" sz="3200" dirty="0"/>
          </a:p>
        </p:txBody>
      </p:sp>
      <p:sp>
        <p:nvSpPr>
          <p:cNvPr id="4" name="idea 1"/>
          <p:cNvSpPr/>
          <p:nvPr/>
        </p:nvSpPr>
        <p:spPr>
          <a:xfrm>
            <a:off x="685800" y="1783080"/>
            <a:ext cx="3362249" cy="2103120"/>
          </a:xfrm>
          <a:prstGeom prst="roundRect">
            <a:avLst>
              <a:gd name="adj" fmla="val 6522"/>
            </a:avLst>
          </a:prstGeom>
          <a:solidFill>
            <a:srgbClr val="1E2026"/>
          </a:solidFill>
          <a:ln w="12700">
            <a:solidFill>
              <a:srgbClr val="33363E"/>
            </a:solidFill>
            <a:prstDash val="solid"/>
          </a:ln>
        </p:spPr>
      </p:sp>
      <p:sp>
        <p:nvSpPr>
          <p:cNvPr id="5" name="idea 1 circle"/>
          <p:cNvSpPr/>
          <p:nvPr/>
        </p:nvSpPr>
        <p:spPr>
          <a:xfrm>
            <a:off x="960120" y="2057400"/>
            <a:ext cx="502920" cy="502920"/>
          </a:xfrm>
          <a:prstGeom prst="ellipse">
            <a:avLst/>
          </a:prstGeom>
          <a:solidFill>
            <a:srgbClr val="2B3BE6"/>
          </a:solidFill>
          <a:ln/>
        </p:spPr>
      </p:sp>
      <p:pic>
        <p:nvPicPr>
          <p:cNvPr id="6" name="idea 1 icon" descr="preencoded.png">    </p:cNvPr>
          <p:cNvPicPr>
            <a:picLocks noChangeAspect="1"/>
          </p:cNvPicPr>
          <p:nvPr/>
        </p:nvPicPr>
        <p:blipFill>
          <a:blip r:embed="rId1"/>
          <a:stretch>
            <a:fillRect/>
          </a:stretch>
        </p:blipFill>
        <p:spPr>
          <a:xfrm>
            <a:off x="1070762" y="2168042"/>
            <a:ext cx="281635" cy="281635"/>
          </a:xfrm>
          <a:prstGeom prst="rect">
            <a:avLst/>
          </a:prstGeom>
        </p:spPr>
      </p:pic>
      <p:sp>
        <p:nvSpPr>
          <p:cNvPr id="7" name="idea 1 title"/>
          <p:cNvSpPr txBox="1"/>
          <p:nvPr/>
        </p:nvSpPr>
        <p:spPr>
          <a:xfrm>
            <a:off x="1600200" y="205740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Signature is the truth</a:t>
            </a:r>
            <a:endParaRPr lang="en-US" sz="1700" dirty="0"/>
          </a:p>
        </p:txBody>
      </p:sp>
      <p:sp>
        <p:nvSpPr>
          <p:cNvPr id="8" name="idea 1 body"/>
          <p:cNvSpPr txBox="1"/>
          <p:nvPr/>
        </p:nvSpPr>
        <p:spPr>
          <a:xfrm>
            <a:off x="960120" y="2697480"/>
            <a:ext cx="2834640" cy="1051560"/>
          </a:xfrm>
          <a:prstGeom prst="rect">
            <a:avLst/>
          </a:prstGeom>
          <a:noFill/>
          <a:ln/>
        </p:spPr>
        <p:txBody>
          <a:bodyPr wrap="square" lIns="0" tIns="0" rIns="0" bIns="0" rtlCol="0" anchor="t"/>
          <a:lstStyle/>
          <a:p>
            <a:pPr indent="0" marL="0">
              <a:buNone/>
            </a:pPr>
            <a:r>
              <a:rPr lang="en-US" sz="1400" dirty="0">
                <a:solidFill>
                  <a:srgbClr val="BFC3CC"/>
                </a:solidFill>
              </a:rPr>
              <a:t>The issuer’s signed QR decides, not the pixels. Real Aadhaar is verified offline through UIDAI’s Secure QR.</a:t>
            </a:r>
            <a:endParaRPr lang="en-US" sz="1400" dirty="0"/>
          </a:p>
        </p:txBody>
      </p:sp>
      <p:sp>
        <p:nvSpPr>
          <p:cNvPr id="9" name="idea 2"/>
          <p:cNvSpPr/>
          <p:nvPr/>
        </p:nvSpPr>
        <p:spPr>
          <a:xfrm>
            <a:off x="4413809" y="1783080"/>
            <a:ext cx="3362249" cy="2103120"/>
          </a:xfrm>
          <a:prstGeom prst="roundRect">
            <a:avLst>
              <a:gd name="adj" fmla="val 6522"/>
            </a:avLst>
          </a:prstGeom>
          <a:solidFill>
            <a:schemeClr val="accent1"/>
          </a:solidFill>
          <a:ln/>
        </p:spPr>
      </p:sp>
      <p:sp>
        <p:nvSpPr>
          <p:cNvPr id="10" name="idea 2 circle"/>
          <p:cNvSpPr/>
          <p:nvPr/>
        </p:nvSpPr>
        <p:spPr>
          <a:xfrm>
            <a:off x="4688129" y="2057400"/>
            <a:ext cx="502920" cy="502920"/>
          </a:xfrm>
          <a:prstGeom prst="ellipse">
            <a:avLst/>
          </a:prstGeom>
          <a:solidFill>
            <a:srgbClr val="FBFBF8"/>
          </a:solidFill>
          <a:ln/>
        </p:spPr>
      </p:sp>
      <p:pic>
        <p:nvPicPr>
          <p:cNvPr id="11" name="idea 2 icon" descr="preencoded.png">    </p:cNvPr>
          <p:cNvPicPr>
            <a:picLocks noChangeAspect="1"/>
          </p:cNvPicPr>
          <p:nvPr/>
        </p:nvPicPr>
        <p:blipFill>
          <a:blip r:embed="rId2"/>
          <a:stretch>
            <a:fillRect/>
          </a:stretch>
        </p:blipFill>
        <p:spPr>
          <a:xfrm>
            <a:off x="4798771" y="2168042"/>
            <a:ext cx="281635" cy="281635"/>
          </a:xfrm>
          <a:prstGeom prst="rect">
            <a:avLst/>
          </a:prstGeom>
        </p:spPr>
      </p:pic>
      <p:sp>
        <p:nvSpPr>
          <p:cNvPr id="12" name="idea 2 title"/>
          <p:cNvSpPr txBox="1"/>
          <p:nvPr/>
        </p:nvSpPr>
        <p:spPr>
          <a:xfrm>
            <a:off x="5328209" y="205740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Fair social scoring</a:t>
            </a:r>
            <a:endParaRPr lang="en-US" sz="1700" dirty="0"/>
          </a:p>
        </p:txBody>
      </p:sp>
      <p:sp>
        <p:nvSpPr>
          <p:cNvPr id="13" name="idea 2 body"/>
          <p:cNvSpPr txBox="1"/>
          <p:nvPr/>
        </p:nvSpPr>
        <p:spPr>
          <a:xfrm>
            <a:off x="4688129" y="2697480"/>
            <a:ext cx="2834640" cy="566928"/>
          </a:xfrm>
          <a:prstGeom prst="rect">
            <a:avLst/>
          </a:prstGeom>
          <a:noFill/>
          <a:ln/>
        </p:spPr>
        <p:txBody>
          <a:bodyPr wrap="square" lIns="0" tIns="0" rIns="0" bIns="0" rtlCol="0" anchor="t"/>
          <a:lstStyle/>
          <a:p>
            <a:pPr indent="0" marL="0">
              <a:buNone/>
            </a:pPr>
            <a:r>
              <a:rPr lang="en-US" sz="1400" dirty="0">
                <a:solidFill>
                  <a:srgbClr val="E4E7FF"/>
                </a:solidFill>
              </a:rPr>
              <a:t>Opt-in footprint check that counts only contradictions.</a:t>
            </a:r>
            <a:endParaRPr lang="en-US" sz="1400" dirty="0"/>
          </a:p>
        </p:txBody>
      </p:sp>
      <p:sp>
        <p:nvSpPr>
          <p:cNvPr id="14" name="footprint stat"/>
          <p:cNvSpPr txBox="1"/>
          <p:nvPr/>
        </p:nvSpPr>
        <p:spPr>
          <a:xfrm>
            <a:off x="4688129" y="3154680"/>
            <a:ext cx="2834640" cy="384048"/>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1.4% vs 20.3%</a:t>
            </a:r>
            <a:endParaRPr lang="en-US" sz="2400" dirty="0"/>
          </a:p>
        </p:txBody>
      </p:sp>
      <p:sp>
        <p:nvSpPr>
          <p:cNvPr id="15" name="footprint stat label"/>
          <p:cNvSpPr txBox="1"/>
          <p:nvPr/>
        </p:nvSpPr>
        <p:spPr>
          <a:xfrm>
            <a:off x="4688129" y="3538728"/>
            <a:ext cx="2926080" cy="256032"/>
          </a:xfrm>
          <a:prstGeom prst="rect">
            <a:avLst/>
          </a:prstGeom>
          <a:noFill/>
          <a:ln/>
        </p:spPr>
        <p:txBody>
          <a:bodyPr wrap="square" lIns="0" tIns="0" rIns="0" bIns="0" rtlCol="0" anchor="ctr"/>
          <a:lstStyle/>
          <a:p>
            <a:pPr indent="0" marL="0">
              <a:buNone/>
            </a:pPr>
            <a:r>
              <a:rPr lang="en-US" sz="1100" dirty="0">
                <a:solidFill>
                  <a:srgbClr val="E4E7FF"/>
                </a:solidFill>
              </a:rPr>
              <a:t>genuine people flagged: ours vs a naive score</a:t>
            </a:r>
            <a:endParaRPr lang="en-US" sz="1100" dirty="0"/>
          </a:p>
        </p:txBody>
      </p:sp>
      <p:sp>
        <p:nvSpPr>
          <p:cNvPr id="16" name="idea 3"/>
          <p:cNvSpPr/>
          <p:nvPr/>
        </p:nvSpPr>
        <p:spPr>
          <a:xfrm>
            <a:off x="8141818" y="1783080"/>
            <a:ext cx="3362249" cy="2103120"/>
          </a:xfrm>
          <a:prstGeom prst="roundRect">
            <a:avLst>
              <a:gd name="adj" fmla="val 6522"/>
            </a:avLst>
          </a:prstGeom>
          <a:solidFill>
            <a:srgbClr val="1E2026"/>
          </a:solidFill>
          <a:ln w="12700">
            <a:solidFill>
              <a:srgbClr val="33363E"/>
            </a:solidFill>
            <a:prstDash val="solid"/>
          </a:ln>
        </p:spPr>
      </p:sp>
      <p:sp>
        <p:nvSpPr>
          <p:cNvPr id="17" name="idea 3 circle"/>
          <p:cNvSpPr/>
          <p:nvPr/>
        </p:nvSpPr>
        <p:spPr>
          <a:xfrm>
            <a:off x="8416138" y="2057400"/>
            <a:ext cx="502920" cy="502920"/>
          </a:xfrm>
          <a:prstGeom prst="ellipse">
            <a:avLst/>
          </a:prstGeom>
          <a:solidFill>
            <a:srgbClr val="2B3BE6"/>
          </a:solidFill>
          <a:ln/>
        </p:spPr>
      </p:sp>
      <p:pic>
        <p:nvPicPr>
          <p:cNvPr id="18" name="idea 3 icon" descr="preencoded.png">    </p:cNvPr>
          <p:cNvPicPr>
            <a:picLocks noChangeAspect="1"/>
          </p:cNvPicPr>
          <p:nvPr/>
        </p:nvPicPr>
        <p:blipFill>
          <a:blip r:embed="rId3"/>
          <a:stretch>
            <a:fillRect/>
          </a:stretch>
        </p:blipFill>
        <p:spPr>
          <a:xfrm>
            <a:off x="8526780" y="2168042"/>
            <a:ext cx="281635" cy="281635"/>
          </a:xfrm>
          <a:prstGeom prst="rect">
            <a:avLst/>
          </a:prstGeom>
        </p:spPr>
      </p:pic>
      <p:sp>
        <p:nvSpPr>
          <p:cNvPr id="19" name="idea 3 title"/>
          <p:cNvSpPr txBox="1"/>
          <p:nvPr/>
        </p:nvSpPr>
        <p:spPr>
          <a:xfrm>
            <a:off x="9056218" y="205740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Cross-bank network</a:t>
            </a:r>
            <a:endParaRPr lang="en-US" sz="1700" dirty="0"/>
          </a:p>
        </p:txBody>
      </p:sp>
      <p:sp>
        <p:nvSpPr>
          <p:cNvPr id="20" name="idea 3 body"/>
          <p:cNvSpPr txBox="1"/>
          <p:nvPr/>
        </p:nvSpPr>
        <p:spPr>
          <a:xfrm>
            <a:off x="8416138" y="2697480"/>
            <a:ext cx="2834640" cy="1051560"/>
          </a:xfrm>
          <a:prstGeom prst="rect">
            <a:avLst/>
          </a:prstGeom>
          <a:noFill/>
          <a:ln/>
        </p:spPr>
        <p:txBody>
          <a:bodyPr wrap="square" lIns="0" tIns="0" rIns="0" bIns="0" rtlCol="0" anchor="t"/>
          <a:lstStyle/>
          <a:p>
            <a:pPr indent="0" marL="0">
              <a:buNone/>
            </a:pPr>
            <a:r>
              <a:rPr lang="en-US" sz="1400" dirty="0">
                <a:solidFill>
                  <a:srgbClr val="BFC3CC"/>
                </a:solidFill>
              </a:rPr>
              <a:t>Banks share keyed hashes only. The same ID under another name elsewhere is held for review.</a:t>
            </a:r>
            <a:endParaRPr lang="en-US" sz="1400" dirty="0"/>
          </a:p>
        </p:txBody>
      </p:sp>
      <p:sp>
        <p:nvSpPr>
          <p:cNvPr id="21" name="idea 4"/>
          <p:cNvSpPr/>
          <p:nvPr/>
        </p:nvSpPr>
        <p:spPr>
          <a:xfrm>
            <a:off x="685800" y="4160520"/>
            <a:ext cx="3362249" cy="2103120"/>
          </a:xfrm>
          <a:prstGeom prst="roundRect">
            <a:avLst>
              <a:gd name="adj" fmla="val 6522"/>
            </a:avLst>
          </a:prstGeom>
          <a:solidFill>
            <a:srgbClr val="1E2026"/>
          </a:solidFill>
          <a:ln w="12700">
            <a:solidFill>
              <a:srgbClr val="33363E"/>
            </a:solidFill>
            <a:prstDash val="solid"/>
          </a:ln>
        </p:spPr>
      </p:sp>
      <p:sp>
        <p:nvSpPr>
          <p:cNvPr id="22" name="idea 4 circle"/>
          <p:cNvSpPr/>
          <p:nvPr/>
        </p:nvSpPr>
        <p:spPr>
          <a:xfrm>
            <a:off x="960120" y="4434840"/>
            <a:ext cx="502920" cy="502920"/>
          </a:xfrm>
          <a:prstGeom prst="ellipse">
            <a:avLst/>
          </a:prstGeom>
          <a:solidFill>
            <a:srgbClr val="2B3BE6"/>
          </a:solidFill>
          <a:ln/>
        </p:spPr>
      </p:sp>
      <p:pic>
        <p:nvPicPr>
          <p:cNvPr id="23" name="idea 4 icon" descr="preencoded.png">    </p:cNvPr>
          <p:cNvPicPr>
            <a:picLocks noChangeAspect="1"/>
          </p:cNvPicPr>
          <p:nvPr/>
        </p:nvPicPr>
        <p:blipFill>
          <a:blip r:embed="rId4"/>
          <a:stretch>
            <a:fillRect/>
          </a:stretch>
        </p:blipFill>
        <p:spPr>
          <a:xfrm>
            <a:off x="1070762" y="4545482"/>
            <a:ext cx="281635" cy="281635"/>
          </a:xfrm>
          <a:prstGeom prst="rect">
            <a:avLst/>
          </a:prstGeom>
        </p:spPr>
      </p:pic>
      <p:sp>
        <p:nvSpPr>
          <p:cNvPr id="24" name="idea 4 title"/>
          <p:cNvSpPr txBox="1"/>
          <p:nvPr/>
        </p:nvSpPr>
        <p:spPr>
          <a:xfrm>
            <a:off x="1600200" y="443484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Catches the unseen</a:t>
            </a:r>
            <a:endParaRPr lang="en-US" sz="1700" dirty="0"/>
          </a:p>
        </p:txBody>
      </p:sp>
      <p:sp>
        <p:nvSpPr>
          <p:cNvPr id="25" name="idea 4 body"/>
          <p:cNvSpPr txBox="1"/>
          <p:nvPr/>
        </p:nvSpPr>
        <p:spPr>
          <a:xfrm>
            <a:off x="960120" y="5074920"/>
            <a:ext cx="2834640" cy="1051560"/>
          </a:xfrm>
          <a:prstGeom prst="rect">
            <a:avLst/>
          </a:prstGeom>
          <a:noFill/>
          <a:ln/>
        </p:spPr>
        <p:txBody>
          <a:bodyPr wrap="square" lIns="0" tIns="0" rIns="0" bIns="0" rtlCol="0" anchor="t"/>
          <a:lstStyle/>
          <a:p>
            <a:pPr indent="0" marL="0">
              <a:buNone/>
            </a:pPr>
            <a:r>
              <a:rPr lang="en-US" sz="1400" dirty="0">
                <a:solidFill>
                  <a:srgbClr val="BFC3CC"/>
                </a:solidFill>
              </a:rPr>
              <a:t>A profile learnt from genuine applicants catches 94% of bots the model never saw.</a:t>
            </a:r>
            <a:endParaRPr lang="en-US" sz="1400" dirty="0"/>
          </a:p>
        </p:txBody>
      </p:sp>
      <p:sp>
        <p:nvSpPr>
          <p:cNvPr id="26" name="idea 5"/>
          <p:cNvSpPr/>
          <p:nvPr/>
        </p:nvSpPr>
        <p:spPr>
          <a:xfrm>
            <a:off x="4413809" y="4160520"/>
            <a:ext cx="3362249" cy="2103120"/>
          </a:xfrm>
          <a:prstGeom prst="roundRect">
            <a:avLst>
              <a:gd name="adj" fmla="val 6522"/>
            </a:avLst>
          </a:prstGeom>
          <a:solidFill>
            <a:srgbClr val="1E2026"/>
          </a:solidFill>
          <a:ln w="12700">
            <a:solidFill>
              <a:srgbClr val="33363E"/>
            </a:solidFill>
            <a:prstDash val="solid"/>
          </a:ln>
        </p:spPr>
      </p:sp>
      <p:sp>
        <p:nvSpPr>
          <p:cNvPr id="27" name="idea 5 circle"/>
          <p:cNvSpPr/>
          <p:nvPr/>
        </p:nvSpPr>
        <p:spPr>
          <a:xfrm>
            <a:off x="4688129" y="4434840"/>
            <a:ext cx="502920" cy="502920"/>
          </a:xfrm>
          <a:prstGeom prst="ellipse">
            <a:avLst/>
          </a:prstGeom>
          <a:solidFill>
            <a:srgbClr val="2B3BE6"/>
          </a:solidFill>
          <a:ln/>
        </p:spPr>
      </p:sp>
      <p:pic>
        <p:nvPicPr>
          <p:cNvPr id="28" name="idea 5 icon" descr="preencoded.png">    </p:cNvPr>
          <p:cNvPicPr>
            <a:picLocks noChangeAspect="1"/>
          </p:cNvPicPr>
          <p:nvPr/>
        </p:nvPicPr>
        <p:blipFill>
          <a:blip r:embed="rId5"/>
          <a:stretch>
            <a:fillRect/>
          </a:stretch>
        </p:blipFill>
        <p:spPr>
          <a:xfrm>
            <a:off x="4798771" y="4545482"/>
            <a:ext cx="281635" cy="281635"/>
          </a:xfrm>
          <a:prstGeom prst="rect">
            <a:avLst/>
          </a:prstGeom>
        </p:spPr>
      </p:pic>
      <p:sp>
        <p:nvSpPr>
          <p:cNvPr id="29" name="idea 5 title"/>
          <p:cNvSpPr txBox="1"/>
          <p:nvPr/>
        </p:nvSpPr>
        <p:spPr>
          <a:xfrm>
            <a:off x="5328209" y="443484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Learns, with a human</a:t>
            </a:r>
            <a:endParaRPr lang="en-US" sz="1700" dirty="0"/>
          </a:p>
        </p:txBody>
      </p:sp>
      <p:sp>
        <p:nvSpPr>
          <p:cNvPr id="30" name="idea 5 body"/>
          <p:cNvSpPr txBox="1"/>
          <p:nvPr/>
        </p:nvSpPr>
        <p:spPr>
          <a:xfrm>
            <a:off x="4688129" y="5074920"/>
            <a:ext cx="2834640" cy="1051560"/>
          </a:xfrm>
          <a:prstGeom prst="rect">
            <a:avLst/>
          </a:prstGeom>
          <a:noFill/>
          <a:ln/>
        </p:spPr>
        <p:txBody>
          <a:bodyPr wrap="square" lIns="0" tIns="0" rIns="0" bIns="0" rtlCol="0" anchor="t"/>
          <a:lstStyle/>
          <a:p>
            <a:pPr indent="0" marL="0">
              <a:buNone/>
            </a:pPr>
            <a:r>
              <a:rPr lang="en-US" sz="1400" dirty="0">
                <a:solidFill>
                  <a:srgbClr val="BFC3CC"/>
                </a:solidFill>
              </a:rPr>
              <a:t>Analyst decisions become proposals. Nothing changes until approved; every change rolls back.</a:t>
            </a:r>
            <a:endParaRPr lang="en-US" sz="1400" dirty="0"/>
          </a:p>
        </p:txBody>
      </p:sp>
      <p:sp>
        <p:nvSpPr>
          <p:cNvPr id="31" name="idea 6"/>
          <p:cNvSpPr/>
          <p:nvPr/>
        </p:nvSpPr>
        <p:spPr>
          <a:xfrm>
            <a:off x="8141818" y="4160520"/>
            <a:ext cx="3362249" cy="2103120"/>
          </a:xfrm>
          <a:prstGeom prst="roundRect">
            <a:avLst>
              <a:gd name="adj" fmla="val 6522"/>
            </a:avLst>
          </a:prstGeom>
          <a:solidFill>
            <a:srgbClr val="1E2026"/>
          </a:solidFill>
          <a:ln w="12700">
            <a:solidFill>
              <a:srgbClr val="33363E"/>
            </a:solidFill>
            <a:prstDash val="solid"/>
          </a:ln>
        </p:spPr>
      </p:sp>
      <p:sp>
        <p:nvSpPr>
          <p:cNvPr id="32" name="idea 6 circle"/>
          <p:cNvSpPr/>
          <p:nvPr/>
        </p:nvSpPr>
        <p:spPr>
          <a:xfrm>
            <a:off x="8416138" y="4434840"/>
            <a:ext cx="502920" cy="502920"/>
          </a:xfrm>
          <a:prstGeom prst="ellipse">
            <a:avLst/>
          </a:prstGeom>
          <a:solidFill>
            <a:srgbClr val="2B3BE6"/>
          </a:solidFill>
          <a:ln/>
        </p:spPr>
      </p:sp>
      <p:pic>
        <p:nvPicPr>
          <p:cNvPr id="33" name="idea 6 icon" descr="preencoded.png">    </p:cNvPr>
          <p:cNvPicPr>
            <a:picLocks noChangeAspect="1"/>
          </p:cNvPicPr>
          <p:nvPr/>
        </p:nvPicPr>
        <p:blipFill>
          <a:blip r:embed="rId6"/>
          <a:stretch>
            <a:fillRect/>
          </a:stretch>
        </p:blipFill>
        <p:spPr>
          <a:xfrm>
            <a:off x="8526780" y="4545482"/>
            <a:ext cx="281635" cy="281635"/>
          </a:xfrm>
          <a:prstGeom prst="rect">
            <a:avLst/>
          </a:prstGeom>
        </p:spPr>
      </p:pic>
      <p:sp>
        <p:nvSpPr>
          <p:cNvPr id="34" name="idea 6 title"/>
          <p:cNvSpPr txBox="1"/>
          <p:nvPr/>
        </p:nvSpPr>
        <p:spPr>
          <a:xfrm>
            <a:off x="9056218" y="443484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AI-provenance</a:t>
            </a:r>
            <a:endParaRPr lang="en-US" sz="1700" dirty="0"/>
          </a:p>
        </p:txBody>
      </p:sp>
      <p:sp>
        <p:nvSpPr>
          <p:cNvPr id="35" name="idea 6 body"/>
          <p:cNvSpPr txBox="1"/>
          <p:nvPr/>
        </p:nvSpPr>
        <p:spPr>
          <a:xfrm>
            <a:off x="8416138" y="5074920"/>
            <a:ext cx="2834640" cy="1051560"/>
          </a:xfrm>
          <a:prstGeom prst="rect">
            <a:avLst/>
          </a:prstGeom>
          <a:noFill/>
          <a:ln/>
        </p:spPr>
        <p:txBody>
          <a:bodyPr wrap="square" lIns="0" tIns="0" rIns="0" bIns="0" rtlCol="0" anchor="t"/>
          <a:lstStyle/>
          <a:p>
            <a:pPr indent="0" marL="0">
              <a:buNone/>
            </a:pPr>
            <a:r>
              <a:rPr lang="en-US" sz="1400" dirty="0">
                <a:solidFill>
                  <a:srgbClr val="BFC3CC"/>
                </a:solidFill>
              </a:rPr>
              <a:t>C2PA content credentials are read on every upload; Ask TrueID answers from live data.</a:t>
            </a:r>
            <a:endParaRPr lang="en-US" sz="14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8229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MEASURED</a:t>
            </a:r>
            <a:endParaRPr lang="en-US" sz="1200" dirty="0"/>
          </a:p>
        </p:txBody>
      </p:sp>
      <p:sp>
        <p:nvSpPr>
          <p:cNvPr id="3" name="Text 1"/>
          <p:cNvSpPr/>
          <p:nvPr>
            <p:ph idx="102" type="title" hasCustomPrompt="1"/>
          </p:nvPr>
        </p:nvSpPr>
        <p:spPr>
          <a:xfrm>
            <a:off x="685800" y="804672"/>
            <a:ext cx="10817352" cy="731520"/>
          </a:xfrm>
          <a:prstGeom prst="rect">
            <a:avLst/>
          </a:prstGeom>
          <a:noFill/>
          <a:ln/>
        </p:spPr>
        <p:txBody>
          <a:bodyPr wrap="square" lIns="0" tIns="0" rIns="0" bIns="0" rtlCol="0" anchor="ctr"/>
          <a:lstStyle/>
          <a:p>
            <a:pPr algn="l" indent="0" marL="0">
              <a:buNone/>
            </a:pPr>
            <a:r>
              <a:rPr lang="en-US" sz="3200" b="1" dirty="0">
                <a:solidFill>
                  <a:schemeClr val="tx1"/>
                </a:solidFill>
              </a:rPr>
              <a:t>Fraud has to fool every layer at once</a:t>
            </a:r>
            <a:endParaRPr lang="en-US" sz="3200" dirty="0"/>
          </a:p>
        </p:txBody>
      </p:sp>
      <p:sp>
        <p:nvSpPr>
          <p:cNvPr id="4" name="stat 1"/>
          <p:cNvSpPr txBox="1"/>
          <p:nvPr/>
        </p:nvSpPr>
        <p:spPr>
          <a:xfrm>
            <a:off x="685800" y="1737360"/>
            <a:ext cx="2532888" cy="8686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100%</a:t>
            </a:r>
            <a:endParaRPr lang="en-US" sz="4800" dirty="0"/>
          </a:p>
        </p:txBody>
      </p:sp>
      <p:sp>
        <p:nvSpPr>
          <p:cNvPr id="5" name="stat 1 label"/>
          <p:cNvSpPr txBox="1"/>
          <p:nvPr/>
        </p:nvSpPr>
        <p:spPr>
          <a:xfrm>
            <a:off x="685800" y="2606040"/>
            <a:ext cx="2377440" cy="548640"/>
          </a:xfrm>
          <a:prstGeom prst="rect">
            <a:avLst/>
          </a:prstGeom>
          <a:noFill/>
          <a:ln/>
        </p:spPr>
        <p:txBody>
          <a:bodyPr wrap="square" lIns="0" tIns="0" rIns="0" bIns="0" rtlCol="0" anchor="t"/>
          <a:lstStyle/>
          <a:p>
            <a:pPr indent="0" marL="0">
              <a:buNone/>
            </a:pPr>
            <a:r>
              <a:rPr lang="en-US" sz="1400" dirty="0">
                <a:solidFill>
                  <a:schemeClr val="tx2"/>
                </a:solidFill>
              </a:rPr>
              <a:t>of fraud caught (recall)</a:t>
            </a:r>
            <a:endParaRPr lang="en-US" sz="1400" dirty="0"/>
          </a:p>
        </p:txBody>
      </p:sp>
      <p:sp>
        <p:nvSpPr>
          <p:cNvPr id="6" name="stat 2"/>
          <p:cNvSpPr txBox="1"/>
          <p:nvPr/>
        </p:nvSpPr>
        <p:spPr>
          <a:xfrm>
            <a:off x="3447288" y="1737360"/>
            <a:ext cx="2532888" cy="8686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0.998</a:t>
            </a:r>
            <a:endParaRPr lang="en-US" sz="4800" dirty="0"/>
          </a:p>
        </p:txBody>
      </p:sp>
      <p:sp>
        <p:nvSpPr>
          <p:cNvPr id="7" name="stat 2 label"/>
          <p:cNvSpPr txBox="1"/>
          <p:nvPr/>
        </p:nvSpPr>
        <p:spPr>
          <a:xfrm>
            <a:off x="3447288" y="2606040"/>
            <a:ext cx="2377440" cy="548640"/>
          </a:xfrm>
          <a:prstGeom prst="rect">
            <a:avLst/>
          </a:prstGeom>
          <a:noFill/>
          <a:ln/>
        </p:spPr>
        <p:txBody>
          <a:bodyPr wrap="square" lIns="0" tIns="0" rIns="0" bIns="0" rtlCol="0" anchor="t"/>
          <a:lstStyle/>
          <a:p>
            <a:pPr indent="0" marL="0">
              <a:buNone/>
            </a:pPr>
            <a:r>
              <a:rPr lang="en-US" sz="1400" dirty="0">
                <a:solidFill>
                  <a:schemeClr val="tx2"/>
                </a:solidFill>
              </a:rPr>
              <a:t>ROC-AUC fused (document alone: 0.78)</a:t>
            </a:r>
            <a:endParaRPr lang="en-US" sz="1400" dirty="0"/>
          </a:p>
        </p:txBody>
      </p:sp>
      <p:sp>
        <p:nvSpPr>
          <p:cNvPr id="8" name="stat 3"/>
          <p:cNvSpPr txBox="1"/>
          <p:nvPr/>
        </p:nvSpPr>
        <p:spPr>
          <a:xfrm>
            <a:off x="6208776" y="1737360"/>
            <a:ext cx="2532888" cy="868680"/>
          </a:xfrm>
          <a:prstGeom prst="rect">
            <a:avLst/>
          </a:prstGeom>
          <a:noFill/>
          <a:ln/>
        </p:spPr>
        <p:txBody>
          <a:bodyPr wrap="square" lIns="0" tIns="0" rIns="0" bIns="0" rtlCol="0" anchor="ctr"/>
          <a:lstStyle/>
          <a:p>
            <a:pPr indent="0" marL="0">
              <a:buNone/>
            </a:pPr>
            <a:r>
              <a:rPr lang="en-US" sz="4800" b="1" dirty="0">
                <a:solidFill>
                  <a:schemeClr val="tx1"/>
                </a:solidFill>
                <a:latin typeface="Arial" pitchFamily="34" charset="0"/>
                <a:ea typeface="Arial" pitchFamily="34" charset="-122"/>
                <a:cs typeface="Arial" pitchFamily="34" charset="-120"/>
              </a:rPr>
              <a:t>95%</a:t>
            </a:r>
            <a:endParaRPr lang="en-US" sz="4800" dirty="0"/>
          </a:p>
        </p:txBody>
      </p:sp>
      <p:sp>
        <p:nvSpPr>
          <p:cNvPr id="9" name="stat 3 label"/>
          <p:cNvSpPr txBox="1"/>
          <p:nvPr/>
        </p:nvSpPr>
        <p:spPr>
          <a:xfrm>
            <a:off x="6208776" y="2606040"/>
            <a:ext cx="2377440" cy="548640"/>
          </a:xfrm>
          <a:prstGeom prst="rect">
            <a:avLst/>
          </a:prstGeom>
          <a:noFill/>
          <a:ln/>
        </p:spPr>
        <p:txBody>
          <a:bodyPr wrap="square" lIns="0" tIns="0" rIns="0" bIns="0" rtlCol="0" anchor="t"/>
          <a:lstStyle/>
          <a:p>
            <a:pPr indent="0" marL="0">
              <a:buNone/>
            </a:pPr>
            <a:r>
              <a:rPr lang="en-US" sz="1400" dirty="0">
                <a:solidFill>
                  <a:schemeClr val="tx2"/>
                </a:solidFill>
              </a:rPr>
              <a:t>of rejections were real fraud</a:t>
            </a:r>
            <a:endParaRPr lang="en-US" sz="1400" dirty="0"/>
          </a:p>
        </p:txBody>
      </p:sp>
      <p:sp>
        <p:nvSpPr>
          <p:cNvPr id="10" name="stat 4"/>
          <p:cNvSpPr txBox="1"/>
          <p:nvPr/>
        </p:nvSpPr>
        <p:spPr>
          <a:xfrm>
            <a:off x="8970264" y="1737360"/>
            <a:ext cx="2532888" cy="868680"/>
          </a:xfrm>
          <a:prstGeom prst="rect">
            <a:avLst/>
          </a:prstGeom>
          <a:noFill/>
          <a:ln/>
        </p:spPr>
        <p:txBody>
          <a:bodyPr wrap="square" lIns="0" tIns="0" rIns="0" bIns="0" rtlCol="0" anchor="ctr"/>
          <a:lstStyle/>
          <a:p>
            <a:pPr indent="0" marL="0">
              <a:buNone/>
            </a:pPr>
            <a:r>
              <a:rPr lang="en-US" sz="4800" b="1" dirty="0">
                <a:solidFill>
                  <a:schemeClr val="accent4"/>
                </a:solidFill>
                <a:latin typeface="Arial" pitchFamily="34" charset="0"/>
                <a:ea typeface="Arial" pitchFamily="34" charset="-122"/>
                <a:cs typeface="Arial" pitchFamily="34" charset="-120"/>
              </a:rPr>
              <a:t>0/85</a:t>
            </a:r>
            <a:endParaRPr lang="en-US" sz="4800" dirty="0"/>
          </a:p>
        </p:txBody>
      </p:sp>
      <p:sp>
        <p:nvSpPr>
          <p:cNvPr id="11" name="stat 4 label"/>
          <p:cNvSpPr txBox="1"/>
          <p:nvPr/>
        </p:nvSpPr>
        <p:spPr>
          <a:xfrm>
            <a:off x="8970264" y="2606040"/>
            <a:ext cx="2377440" cy="548640"/>
          </a:xfrm>
          <a:prstGeom prst="rect">
            <a:avLst/>
          </a:prstGeom>
          <a:noFill/>
          <a:ln/>
        </p:spPr>
        <p:txBody>
          <a:bodyPr wrap="square" lIns="0" tIns="0" rIns="0" bIns="0" rtlCol="0" anchor="t"/>
          <a:lstStyle/>
          <a:p>
            <a:pPr indent="0" marL="0">
              <a:buNone/>
            </a:pPr>
            <a:r>
              <a:rPr lang="en-US" sz="1400" dirty="0">
                <a:solidFill>
                  <a:schemeClr val="tx2"/>
                </a:solidFill>
              </a:rPr>
              <a:t>frauds slipped past an adaptive attacker</a:t>
            </a:r>
            <a:endParaRPr lang="en-US" sz="1400" dirty="0"/>
          </a:p>
        </p:txBody>
      </p:sp>
      <p:sp>
        <p:nvSpPr>
          <p:cNvPr id="12" name="comparison card"/>
          <p:cNvSpPr/>
          <p:nvPr/>
        </p:nvSpPr>
        <p:spPr>
          <a:xfrm>
            <a:off x="685800" y="3337560"/>
            <a:ext cx="10817352" cy="2423160"/>
          </a:xfrm>
          <a:prstGeom prst="roundRect">
            <a:avLst>
              <a:gd name="adj" fmla="val 5660"/>
            </a:avLst>
          </a:prstGeom>
          <a:solidFill>
            <a:schemeClr val="bg1"/>
          </a:solidFill>
          <a:ln w="12700">
            <a:solidFill>
              <a:srgbClr val="E3E4DF"/>
            </a:solidFill>
            <a:prstDash val="solid"/>
          </a:ln>
        </p:spPr>
      </p:sp>
      <p:graphicFrame>
        <p:nvGraphicFramePr>
          <p:cNvPr id="13" name="edited DOB chart" descr=""/>
          <p:cNvGraphicFramePr/>
          <p:nvPr/>
        </p:nvGraphicFramePr>
        <p:xfrm>
          <a:off x="868680" y="3429000"/>
          <a:ext cx="6675120" cy="2240280"/>
        </p:xfrm>
        <a:graphic xmlns:a="http://schemas.openxmlformats.org/drawingml/2006/main">
          <a:graphicData uri="http://schemas.openxmlformats.org/drawingml/2006/chart">
            <c:chart xmlns:c="http://schemas.openxmlformats.org/drawingml/2006/chart" r:id="rId1"/>
          </a:graphicData>
        </a:graphic>
      </p:graphicFrame>
      <p:sp>
        <p:nvSpPr>
          <p:cNvPr id="14" name="comparison takeaway"/>
          <p:cNvSpPr txBox="1"/>
          <p:nvPr/>
        </p:nvSpPr>
        <p:spPr>
          <a:xfrm>
            <a:off x="7818120" y="3657600"/>
            <a:ext cx="3474720" cy="1737360"/>
          </a:xfrm>
          <a:prstGeom prst="rect">
            <a:avLst/>
          </a:prstGeom>
          <a:noFill/>
          <a:ln/>
        </p:spPr>
        <p:txBody>
          <a:bodyPr wrap="square" lIns="0" tIns="0" rIns="0" bIns="0" rtlCol="0" anchor="ctr"/>
          <a:lstStyle/>
          <a:p>
            <a:pPr indent="0" marL="0">
              <a:buNone/>
            </a:pPr>
            <a:r>
              <a:rPr lang="en-US" sz="1600" b="1" dirty="0">
                <a:solidFill>
                  <a:schemeClr val="tx1"/>
                </a:solidFill>
              </a:rPr>
              <a:t>Pixel forensics is at chance (0.49) </a:t>
            </a:r>
            <a:endParaRPr lang="en-US" sz="1600" dirty="0"/>
          </a:p>
          <a:p>
            <a:pPr indent="0" marL="0">
              <a:buNone/>
            </a:pPr>
            <a:r>
              <a:rPr lang="en-US" sz="1600" dirty="0">
                <a:solidFill>
                  <a:schemeClr val="tx2"/>
                </a:solidFill>
              </a:rPr>
              <a:t>on a cleanly edited date of birth. The issuer’s signature can’t be fooled: the QR still holds the true date.</a:t>
            </a:r>
            <a:endParaRPr lang="en-US" sz="1600" dirty="0"/>
          </a:p>
        </p:txBody>
      </p:sp>
      <p:sp>
        <p:nvSpPr>
          <p:cNvPr id="15" name="method note"/>
          <p:cNvSpPr txBox="1"/>
          <p:nvPr/>
        </p:nvSpPr>
        <p:spPr>
          <a:xfrm>
            <a:off x="685800" y="5897880"/>
            <a:ext cx="10817352" cy="320040"/>
          </a:xfrm>
          <a:prstGeom prst="rect">
            <a:avLst/>
          </a:prstGeom>
          <a:noFill/>
          <a:ln/>
        </p:spPr>
        <p:txBody>
          <a:bodyPr wrap="square" lIns="0" tIns="0" rIns="0" bIns="0" rtlCol="0" anchor="ctr"/>
          <a:lstStyle/>
          <a:p>
            <a:pPr indent="0" marL="0">
              <a:buNone/>
            </a:pPr>
            <a:r>
              <a:rPr lang="en-US" sz="1100" dirty="0">
                <a:solidFill>
                  <a:srgbClr val="6E7380"/>
                </a:solidFill>
              </a:rPr>
              <a:t>Synthetic population · 444 test applications (85 fraud) · time-based split, 95% intervals, leakage checks. We claim the relative gains.</a:t>
            </a:r>
            <a:endParaRPr lang="en-US" sz="11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3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8229600" cy="320040"/>
          </a:xfrm>
          <a:prstGeom prst="rect">
            <a:avLst/>
          </a:prstGeom>
          <a:noFill/>
          <a:ln/>
        </p:spPr>
        <p:txBody>
          <a:bodyPr wrap="square" lIns="0" tIns="0" rIns="0" bIns="0" rtlCol="0" anchor="ctr"/>
          <a:lstStyle/>
          <a:p>
            <a:pPr indent="0" marL="0">
              <a:buNone/>
            </a:pPr>
            <a:r>
              <a:rPr lang="en-US" sz="1200" b="1" spc="300" kern="0" dirty="0">
                <a:solidFill>
                  <a:schemeClr val="accent5"/>
                </a:solidFill>
              </a:rPr>
              <a:t>BUILT FOR BANKS</a:t>
            </a:r>
            <a:endParaRPr lang="en-US" sz="1200" dirty="0"/>
          </a:p>
        </p:txBody>
      </p:sp>
      <p:sp>
        <p:nvSpPr>
          <p:cNvPr id="3" name="Text 1"/>
          <p:cNvSpPr/>
          <p:nvPr>
            <p:ph idx="102" type="title" hasCustomPrompt="1"/>
          </p:nvPr>
        </p:nvSpPr>
        <p:spPr>
          <a:xfrm>
            <a:off x="685800" y="804672"/>
            <a:ext cx="10817352" cy="731520"/>
          </a:xfrm>
          <a:prstGeom prst="rect">
            <a:avLst/>
          </a:prstGeom>
          <a:noFill/>
          <a:ln/>
        </p:spPr>
        <p:txBody>
          <a:bodyPr wrap="square" lIns="0" tIns="0" rIns="0" bIns="0" rtlCol="0" anchor="ctr"/>
          <a:lstStyle/>
          <a:p>
            <a:pPr algn="l" indent="0" marL="0">
              <a:buNone/>
            </a:pPr>
            <a:r>
              <a:rPr lang="en-US" sz="3200" b="1" dirty="0">
                <a:solidFill>
                  <a:schemeClr val="bg1"/>
                </a:solidFill>
              </a:rPr>
              <a:t>Ready for a bank’s own KYC journey</a:t>
            </a:r>
            <a:endParaRPr lang="en-US" sz="3200" dirty="0"/>
          </a:p>
        </p:txBody>
      </p:sp>
      <p:sp>
        <p:nvSpPr>
          <p:cNvPr id="4" name="pillar 1"/>
          <p:cNvSpPr/>
          <p:nvPr/>
        </p:nvSpPr>
        <p:spPr>
          <a:xfrm>
            <a:off x="685800" y="1783080"/>
            <a:ext cx="3362249" cy="2103120"/>
          </a:xfrm>
          <a:prstGeom prst="roundRect">
            <a:avLst>
              <a:gd name="adj" fmla="val 6522"/>
            </a:avLst>
          </a:prstGeom>
          <a:solidFill>
            <a:srgbClr val="1E2026"/>
          </a:solidFill>
          <a:ln w="12700">
            <a:solidFill>
              <a:srgbClr val="33363E"/>
            </a:solidFill>
            <a:prstDash val="solid"/>
          </a:ln>
        </p:spPr>
      </p:sp>
      <p:sp>
        <p:nvSpPr>
          <p:cNvPr id="5" name="pillar 1 circle"/>
          <p:cNvSpPr/>
          <p:nvPr/>
        </p:nvSpPr>
        <p:spPr>
          <a:xfrm>
            <a:off x="960120" y="2057400"/>
            <a:ext cx="502920" cy="502920"/>
          </a:xfrm>
          <a:prstGeom prst="ellipse">
            <a:avLst/>
          </a:prstGeom>
          <a:solidFill>
            <a:srgbClr val="2B3BE6"/>
          </a:solidFill>
          <a:ln/>
        </p:spPr>
      </p:sp>
      <p:pic>
        <p:nvPicPr>
          <p:cNvPr id="6" name="pillar 1 icon" descr="preencoded.png">    </p:cNvPr>
          <p:cNvPicPr>
            <a:picLocks noChangeAspect="1"/>
          </p:cNvPicPr>
          <p:nvPr/>
        </p:nvPicPr>
        <p:blipFill>
          <a:blip r:embed="rId1"/>
          <a:stretch>
            <a:fillRect/>
          </a:stretch>
        </p:blipFill>
        <p:spPr>
          <a:xfrm>
            <a:off x="1070762" y="2168042"/>
            <a:ext cx="281635" cy="281635"/>
          </a:xfrm>
          <a:prstGeom prst="rect">
            <a:avLst/>
          </a:prstGeom>
        </p:spPr>
      </p:pic>
      <p:sp>
        <p:nvSpPr>
          <p:cNvPr id="7" name="pillar 1 title"/>
          <p:cNvSpPr txBox="1"/>
          <p:nvPr/>
        </p:nvSpPr>
        <p:spPr>
          <a:xfrm>
            <a:off x="1600200" y="205740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Partner API</a:t>
            </a:r>
            <a:endParaRPr lang="en-US" sz="1700" dirty="0"/>
          </a:p>
        </p:txBody>
      </p:sp>
      <p:sp>
        <p:nvSpPr>
          <p:cNvPr id="8" name="pillar 1 body"/>
          <p:cNvSpPr txBox="1"/>
          <p:nvPr/>
        </p:nvSpPr>
        <p:spPr>
          <a:xfrm>
            <a:off x="960120" y="2697480"/>
            <a:ext cx="2834640" cy="1051560"/>
          </a:xfrm>
          <a:prstGeom prst="rect">
            <a:avLst/>
          </a:prstGeom>
          <a:noFill/>
          <a:ln/>
        </p:spPr>
        <p:txBody>
          <a:bodyPr wrap="square" lIns="0" tIns="0" rIns="0" bIns="0" rtlCol="0" anchor="t"/>
          <a:lstStyle/>
          <a:p>
            <a:pPr indent="0" marL="0">
              <a:buNone/>
            </a:pPr>
            <a:r>
              <a:rPr lang="en-US" sz="1400" dirty="0">
                <a:solidFill>
                  <a:srgbClr val="BFC3CC"/>
                </a:solidFill>
              </a:rPr>
              <a:t>The bank keeps its own website; its server calls TrueID with a partner key. Three demo banks run on it.</a:t>
            </a:r>
            <a:endParaRPr lang="en-US" sz="1400" dirty="0"/>
          </a:p>
        </p:txBody>
      </p:sp>
      <p:sp>
        <p:nvSpPr>
          <p:cNvPr id="9" name="pillar 2"/>
          <p:cNvSpPr/>
          <p:nvPr/>
        </p:nvSpPr>
        <p:spPr>
          <a:xfrm>
            <a:off x="4413809" y="1783080"/>
            <a:ext cx="3362249" cy="2103120"/>
          </a:xfrm>
          <a:prstGeom prst="roundRect">
            <a:avLst>
              <a:gd name="adj" fmla="val 6522"/>
            </a:avLst>
          </a:prstGeom>
          <a:solidFill>
            <a:srgbClr val="1E2026"/>
          </a:solidFill>
          <a:ln w="12700">
            <a:solidFill>
              <a:srgbClr val="33363E"/>
            </a:solidFill>
            <a:prstDash val="solid"/>
          </a:ln>
        </p:spPr>
      </p:sp>
      <p:sp>
        <p:nvSpPr>
          <p:cNvPr id="10" name="pillar 2 circle"/>
          <p:cNvSpPr/>
          <p:nvPr/>
        </p:nvSpPr>
        <p:spPr>
          <a:xfrm>
            <a:off x="4688129" y="2057400"/>
            <a:ext cx="502920" cy="502920"/>
          </a:xfrm>
          <a:prstGeom prst="ellipse">
            <a:avLst/>
          </a:prstGeom>
          <a:solidFill>
            <a:srgbClr val="2B3BE6"/>
          </a:solidFill>
          <a:ln/>
        </p:spPr>
      </p:sp>
      <p:pic>
        <p:nvPicPr>
          <p:cNvPr id="11" name="pillar 2 icon" descr="preencoded.png">    </p:cNvPr>
          <p:cNvPicPr>
            <a:picLocks noChangeAspect="1"/>
          </p:cNvPicPr>
          <p:nvPr/>
        </p:nvPicPr>
        <p:blipFill>
          <a:blip r:embed="rId2"/>
          <a:stretch>
            <a:fillRect/>
          </a:stretch>
        </p:blipFill>
        <p:spPr>
          <a:xfrm>
            <a:off x="4798771" y="2168042"/>
            <a:ext cx="281635" cy="281635"/>
          </a:xfrm>
          <a:prstGeom prst="rect">
            <a:avLst/>
          </a:prstGeom>
        </p:spPr>
      </p:pic>
      <p:sp>
        <p:nvSpPr>
          <p:cNvPr id="12" name="pillar 2 title"/>
          <p:cNvSpPr txBox="1"/>
          <p:nvPr/>
        </p:nvSpPr>
        <p:spPr>
          <a:xfrm>
            <a:off x="5328209" y="205740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Regulation first</a:t>
            </a:r>
            <a:endParaRPr lang="en-US" sz="1700" dirty="0"/>
          </a:p>
        </p:txBody>
      </p:sp>
      <p:sp>
        <p:nvSpPr>
          <p:cNvPr id="13" name="pillar 2 body"/>
          <p:cNvSpPr txBox="1"/>
          <p:nvPr/>
        </p:nvSpPr>
        <p:spPr>
          <a:xfrm>
            <a:off x="4688129" y="2697480"/>
            <a:ext cx="2834640" cy="1051560"/>
          </a:xfrm>
          <a:prstGeom prst="rect">
            <a:avLst/>
          </a:prstGeom>
          <a:noFill/>
          <a:ln/>
        </p:spPr>
        <p:txBody>
          <a:bodyPr wrap="square" lIns="0" tIns="0" rIns="0" bIns="0" rtlCol="0" anchor="t"/>
          <a:lstStyle/>
          <a:p>
            <a:pPr indent="0" marL="0">
              <a:buNone/>
            </a:pPr>
            <a:r>
              <a:rPr lang="en-US" sz="1400" dirty="0">
                <a:solidFill>
                  <a:srgbClr val="BFC3CC"/>
                </a:solidFill>
              </a:rPr>
              <a:t>RBI V-CIP geo-tag and consent, DPDP erasure, a hash-chained audit trail and four-eyes approval.</a:t>
            </a:r>
            <a:endParaRPr lang="en-US" sz="1400" dirty="0"/>
          </a:p>
        </p:txBody>
      </p:sp>
      <p:sp>
        <p:nvSpPr>
          <p:cNvPr id="14" name="pillar 3"/>
          <p:cNvSpPr/>
          <p:nvPr/>
        </p:nvSpPr>
        <p:spPr>
          <a:xfrm>
            <a:off x="8141818" y="1783080"/>
            <a:ext cx="3362249" cy="2103120"/>
          </a:xfrm>
          <a:prstGeom prst="roundRect">
            <a:avLst>
              <a:gd name="adj" fmla="val 6522"/>
            </a:avLst>
          </a:prstGeom>
          <a:solidFill>
            <a:srgbClr val="1E2026"/>
          </a:solidFill>
          <a:ln w="12700">
            <a:solidFill>
              <a:srgbClr val="33363E"/>
            </a:solidFill>
            <a:prstDash val="solid"/>
          </a:ln>
        </p:spPr>
      </p:sp>
      <p:sp>
        <p:nvSpPr>
          <p:cNvPr id="15" name="pillar 3 circle"/>
          <p:cNvSpPr/>
          <p:nvPr/>
        </p:nvSpPr>
        <p:spPr>
          <a:xfrm>
            <a:off x="8416138" y="2057400"/>
            <a:ext cx="502920" cy="502920"/>
          </a:xfrm>
          <a:prstGeom prst="ellipse">
            <a:avLst/>
          </a:prstGeom>
          <a:solidFill>
            <a:srgbClr val="B4690E"/>
          </a:solidFill>
          <a:ln/>
        </p:spPr>
      </p:sp>
      <p:pic>
        <p:nvPicPr>
          <p:cNvPr id="16" name="pillar 3 icon" descr="preencoded.png">    </p:cNvPr>
          <p:cNvPicPr>
            <a:picLocks noChangeAspect="1"/>
          </p:cNvPicPr>
          <p:nvPr/>
        </p:nvPicPr>
        <p:blipFill>
          <a:blip r:embed="rId3"/>
          <a:stretch>
            <a:fillRect/>
          </a:stretch>
        </p:blipFill>
        <p:spPr>
          <a:xfrm>
            <a:off x="8526780" y="2168042"/>
            <a:ext cx="281635" cy="281635"/>
          </a:xfrm>
          <a:prstGeom prst="rect">
            <a:avLst/>
          </a:prstGeom>
        </p:spPr>
      </p:pic>
      <p:sp>
        <p:nvSpPr>
          <p:cNvPr id="17" name="pillar 3 title"/>
          <p:cNvSpPr txBox="1"/>
          <p:nvPr/>
        </p:nvSpPr>
        <p:spPr>
          <a:xfrm>
            <a:off x="9056218" y="2057400"/>
            <a:ext cx="2286000" cy="50292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Honest limits</a:t>
            </a:r>
            <a:endParaRPr lang="en-US" sz="1700" dirty="0"/>
          </a:p>
        </p:txBody>
      </p:sp>
      <p:sp>
        <p:nvSpPr>
          <p:cNvPr id="18" name="pillar 3 body"/>
          <p:cNvSpPr txBox="1"/>
          <p:nvPr/>
        </p:nvSpPr>
        <p:spPr>
          <a:xfrm>
            <a:off x="8416138" y="2697480"/>
            <a:ext cx="2834640" cy="1051560"/>
          </a:xfrm>
          <a:prstGeom prst="rect">
            <a:avLst/>
          </a:prstGeom>
          <a:noFill/>
          <a:ln/>
        </p:spPr>
        <p:txBody>
          <a:bodyPr wrap="square" lIns="0" tIns="0" rIns="0" bIns="0" rtlCol="0" anchor="t"/>
          <a:lstStyle/>
          <a:p>
            <a:pPr indent="0" marL="0">
              <a:buNone/>
            </a:pPr>
            <a:r>
              <a:rPr lang="en-US" sz="1400" dirty="0">
                <a:solidFill>
                  <a:srgbClr val="BFC3CC"/>
                </a:solidFill>
              </a:rPr>
              <a:t>Synthetic test data, mock registries, liveness not yet PAD-certified, SynthID needs Google’s API.</a:t>
            </a:r>
            <a:endParaRPr lang="en-US" sz="1400" dirty="0"/>
          </a:p>
        </p:txBody>
      </p:sp>
      <p:sp>
        <p:nvSpPr>
          <p:cNvPr id="19" name="closing line"/>
          <p:cNvSpPr txBox="1"/>
          <p:nvPr/>
        </p:nvSpPr>
        <p:spPr>
          <a:xfrm>
            <a:off x="685800" y="4343400"/>
            <a:ext cx="6949440" cy="822960"/>
          </a:xfrm>
          <a:prstGeom prst="rect">
            <a:avLst/>
          </a:prstGeom>
          <a:noFill/>
          <a:ln/>
        </p:spPr>
        <p:txBody>
          <a:bodyPr wrap="square" lIns="0" tIns="0" rIns="0" bIns="0" rtlCol="0" anchor="ctr"/>
          <a:lstStyle/>
          <a:p>
            <a:pPr indent="0" marL="0">
              <a:buNone/>
            </a:pPr>
            <a:r>
              <a:rPr lang="en-US" sz="4000" b="1" dirty="0">
                <a:solidFill>
                  <a:schemeClr val="bg1"/>
                </a:solidFill>
                <a:latin typeface="Arial" pitchFamily="34" charset="0"/>
                <a:ea typeface="Arial" pitchFamily="34" charset="-122"/>
                <a:cs typeface="Arial" pitchFamily="34" charset="-120"/>
              </a:rPr>
              <a:t>Trust no single check.</a:t>
            </a:r>
            <a:endParaRPr lang="en-US" sz="4000" dirty="0"/>
          </a:p>
        </p:txBody>
      </p:sp>
      <p:sp>
        <p:nvSpPr>
          <p:cNvPr id="20" name="verdict stamp"/>
          <p:cNvSpPr txBox="1"/>
          <p:nvPr/>
        </p:nvSpPr>
        <p:spPr>
          <a:xfrm rot="-360000">
            <a:off x="8138160" y="4389120"/>
            <a:ext cx="2651760" cy="731520"/>
          </a:xfrm>
          <a:prstGeom prst="roundRect">
            <a:avLst>
              <a:gd name="adj" fmla="val 12500"/>
            </a:avLst>
          </a:prstGeom>
          <a:noFill/>
          <a:ln w="38100">
            <a:solidFill>
              <a:srgbClr val="3FB984"/>
            </a:solidFill>
          </a:ln>
        </p:spPr>
        <p:txBody>
          <a:bodyPr wrap="square" lIns="0" tIns="0" rIns="0" bIns="0" rtlCol="0" anchor="ctr"/>
          <a:lstStyle/>
          <a:p>
            <a:pPr algn="ctr" indent="0" marL="0">
              <a:buNone/>
            </a:pPr>
            <a:r>
              <a:rPr lang="en-US" sz="2200" b="1" spc="200" kern="0" dirty="0">
                <a:solidFill>
                  <a:schemeClr val="accent6"/>
                </a:solidFill>
                <a:latin typeface="Arial" pitchFamily="34" charset="0"/>
                <a:ea typeface="Arial" pitchFamily="34" charset="-122"/>
                <a:cs typeface="Arial" pitchFamily="34" charset="-120"/>
              </a:rPr>
              <a:t>13 / 13 CHECKS</a:t>
            </a:r>
            <a:endParaRPr lang="en-US" sz="2200" dirty="0"/>
          </a:p>
        </p:txBody>
      </p:sp>
      <p:sp>
        <p:nvSpPr>
          <p:cNvPr id="21" name="repo link"/>
          <p:cNvSpPr txBox="1"/>
          <p:nvPr/>
        </p:nvSpPr>
        <p:spPr>
          <a:xfrm>
            <a:off x="685800" y="5486400"/>
            <a:ext cx="8229600" cy="320040"/>
          </a:xfrm>
          <a:prstGeom prst="rect">
            <a:avLst/>
          </a:prstGeom>
          <a:noFill/>
          <a:ln/>
        </p:spPr>
        <p:txBody>
          <a:bodyPr wrap="square" lIns="0" tIns="0" rIns="0" bIns="0" rtlCol="0" anchor="ctr"/>
          <a:lstStyle/>
          <a:p>
            <a:pPr indent="0" marL="0">
              <a:buNone/>
            </a:pPr>
            <a:r>
              <a:rPr lang="en-US" sz="1400" dirty="0">
                <a:solidFill>
                  <a:srgbClr val="8A8F99"/>
                </a:solidFill>
              </a:rPr>
              <a:t>github.com/Sai03SkAr/NIT-Goa-Hack · start at docs/EVALUATION.md</a:t>
            </a:r>
            <a:endParaRPr lang="en-US" sz="1400" dirty="0"/>
          </a:p>
        </p:txBody>
      </p:sp>
      <p:sp>
        <p:nvSpPr>
          <p:cNvPr id="25" name="Slide Number Placeholder 0"/>
          <p:cNvSpPr>
            <a:spLocks noGrp="1"/>
          </p:cNvSpPr>
          <p:nvPr>
            <p:ph type="sldNum" sz="quarter" idx="4294967295"/>
          </p:nvPr>
        </p:nvSpPr>
        <p:spPr>
          <a:xfrm>
            <a:off x="1104595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99"/>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TrueID Evidence Desk">
  <a:themeElements>
    <a:clrScheme name="TrueID Evidence Desk">
      <a:dk1>
        <a:srgbClr val="14161A"/>
      </a:dk1>
      <a:lt1>
        <a:srgbClr val="FBFBF8"/>
      </a:lt1>
      <a:dk2>
        <a:srgbClr val="4A4F59"/>
      </a:dk2>
      <a:lt2>
        <a:srgbClr val="F2F3EF"/>
      </a:lt2>
      <a:accent1>
        <a:srgbClr val="2B3BE6"/>
      </a:accent1>
      <a:accent2>
        <a:srgbClr val="0F7B52"/>
      </a:accent2>
      <a:accent3>
        <a:srgbClr val="B4690E"/>
      </a:accent3>
      <a:accent4>
        <a:srgbClr val="C8361F"/>
      </a:accent4>
      <a:accent5>
        <a:srgbClr val="A9B1FF"/>
      </a:accent5>
      <a:accent6>
        <a:srgbClr val="3FB984"/>
      </a:accent6>
      <a:hlink>
        <a:srgbClr val="2B3BE6"/>
      </a:hlink>
      <a:folHlink>
        <a:srgbClr val="1E2BB3"/>
      </a:folHlink>
    </a:clrScheme>
    <a:fontScheme name="TrueID Evidence De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TrueID Shield — PS3 Pitch</dc:title>
  <dc:subject>Synthetic identity fraud detection in automated KYC</dc:subject>
  <dc:creator>TrueID Shield team</dc:creator>
  <cp:lastModifiedBy>TrueID Shield team</cp:lastModifiedBy>
  <cp:revision>1</cp:revision>
  <dcterms:created xsi:type="dcterms:W3CDTF">2026-10-29T05:39:28Z</dcterms:created>
  <dcterms:modified xsi:type="dcterms:W3CDTF">2026-10-29T05:39:28Z</dcterms:modified>
</cp:coreProperties>
</file>